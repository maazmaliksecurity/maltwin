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4630400" cy="8229600"/>
  <p:notesSz cx="8229600" cy="14630400"/>
  <p:embeddedFontLst>
    <p:embeddedFont>
      <p:font typeface="Raleway" pitchFamily="2" charset="0"/>
      <p:regular r:id="rId16"/>
    </p:embeddedFont>
    <p:embeddedFont>
      <p:font typeface="Roboto" panose="02000000000000000000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061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95413"/>
            <a:ext cx="2093595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937498" y="1471017"/>
            <a:ext cx="18061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YEAR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9276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MalTwin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9765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Malware Variant Detection for Industrial IoT using Digital Twin + Visual AI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5946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 • Visual • Explainable • IIoT-Focused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326050"/>
            <a:ext cx="130428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93790" y="46171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Authors: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Iman Fatima (CIIT/SP23-BCT-021) · Maaz Malik (CIIT/SP23-BCT-025)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2351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Supervisor: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Ms. Najla Raza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8532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University: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COMSATS University Islamabad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4712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Bachelor of Science in Cyber Security (2023–2027)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1524"/>
            <a:ext cx="450008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Current Tools Leave IIoT Exposed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93790" y="1131332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 Space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93790" y="1854279"/>
            <a:ext cx="13042821" cy="1020723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6650" y="1877139"/>
            <a:ext cx="680442" cy="975003"/>
          </a:xfrm>
          <a:prstGeom prst="roundRect">
            <a:avLst>
              <a:gd name="adj" fmla="val 6469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485" y="2237065"/>
            <a:ext cx="255151" cy="2551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4608" y="2047161"/>
            <a:ext cx="322242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Static Signature-Based Defenses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24608" y="2389346"/>
            <a:ext cx="120191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Completely ineffective against polymorphic and obfuscated malware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3790" y="3002518"/>
            <a:ext cx="13042821" cy="1020723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7"/>
          <p:cNvSpPr/>
          <p:nvPr/>
        </p:nvSpPr>
        <p:spPr>
          <a:xfrm>
            <a:off x="816650" y="3025378"/>
            <a:ext cx="680442" cy="975003"/>
          </a:xfrm>
          <a:prstGeom prst="roundRect">
            <a:avLst>
              <a:gd name="adj" fmla="val 6469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485" y="3385304"/>
            <a:ext cx="255151" cy="2551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24608" y="319539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Unsafe Live Analysis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624608" y="3537585"/>
            <a:ext cx="120191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Analyzing malware on real industrial hardware risks physical damage and shutdowns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3790" y="4150757"/>
            <a:ext cx="13042821" cy="1020723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1"/>
          <p:cNvSpPr/>
          <p:nvPr/>
        </p:nvSpPr>
        <p:spPr>
          <a:xfrm>
            <a:off x="816650" y="4173617"/>
            <a:ext cx="680442" cy="975003"/>
          </a:xfrm>
          <a:prstGeom prst="roundRect">
            <a:avLst>
              <a:gd name="adj" fmla="val 6469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485" y="4533543"/>
            <a:ext cx="255151" cy="2551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4608" y="4343638"/>
            <a:ext cx="299585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Scarce &amp; Imbalanced Datasets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624608" y="4685824"/>
            <a:ext cx="120191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IIoT-specific malware datasets are extremely limited and class-imbalanced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93790" y="5298996"/>
            <a:ext cx="13042821" cy="1020723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5"/>
          <p:cNvSpPr/>
          <p:nvPr/>
        </p:nvSpPr>
        <p:spPr>
          <a:xfrm>
            <a:off x="816650" y="5321856"/>
            <a:ext cx="680442" cy="975003"/>
          </a:xfrm>
          <a:prstGeom prst="roundRect">
            <a:avLst>
              <a:gd name="adj" fmla="val 6469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485" y="5681782"/>
            <a:ext cx="255151" cy="2551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24608" y="549187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Lack of Explainability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1624608" y="5834063"/>
            <a:ext cx="120191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AI tools provide no interpretable reasoning for detections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93790" y="6447234"/>
            <a:ext cx="13042821" cy="1020723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19"/>
          <p:cNvSpPr/>
          <p:nvPr/>
        </p:nvSpPr>
        <p:spPr>
          <a:xfrm>
            <a:off x="816650" y="6470094"/>
            <a:ext cx="680442" cy="975003"/>
          </a:xfrm>
          <a:prstGeom prst="roundRect">
            <a:avLst>
              <a:gd name="adj" fmla="val 6469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5485" y="6830020"/>
            <a:ext cx="255151" cy="2551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24608" y="6640116"/>
            <a:ext cx="271248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End-to-End IIoT Pipeline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1624608" y="6982301"/>
            <a:ext cx="120191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safe simulation + visual analysis + XAI + forensic reporting in one framework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0808"/>
            <a:ext cx="3445907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Related System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93790" y="1207056"/>
            <a:ext cx="672941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Existing Tools Fall Short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3790" y="2120503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table highlights the key limitations of existing tools and how MalTwin addresses them with a novel approach tailored for IIoT environments.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3790" y="2637473"/>
            <a:ext cx="13042821" cy="4841319"/>
          </a:xfrm>
          <a:prstGeom prst="roundRect">
            <a:avLst>
              <a:gd name="adj" fmla="val 177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801410" y="2645093"/>
            <a:ext cx="1302627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006912" y="2762845"/>
            <a:ext cx="392965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Tool/System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52336" y="2762845"/>
            <a:ext cx="392584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Weakness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93950" y="2762845"/>
            <a:ext cx="392965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MalTwin's Response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1410" y="3190875"/>
            <a:ext cx="13026271" cy="8560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1006912" y="3308628"/>
            <a:ext cx="392965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Signature AV (Symantec, etc.)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52336" y="3308628"/>
            <a:ext cx="392584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Fails on polymorphic/zero-day variants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93950" y="3308628"/>
            <a:ext cx="3929658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structural patterns (grayscale images) that survive obfuscation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1410" y="4046934"/>
            <a:ext cx="13026271" cy="8560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1006912" y="4164687"/>
            <a:ext cx="392965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Malimg Framework (Nataraj 2011)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52336" y="4164687"/>
            <a:ext cx="392584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Static visualization only, no IIoT simulation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93950" y="4164687"/>
            <a:ext cx="3929658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Digital Twin + data augmentation + XAI + reporting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1410" y="4902994"/>
            <a:ext cx="13026271" cy="8560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1006912" y="5020747"/>
            <a:ext cx="392965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General CNN Malware Detectors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52336" y="5020747"/>
            <a:ext cx="3925848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Windows-focused, no IIoT context or safe execution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93950" y="5020747"/>
            <a:ext cx="3929658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IIoT-specific pipeline with Docker+Mininet simulation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1410" y="5759053"/>
            <a:ext cx="13026271" cy="8560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1006912" y="5876806"/>
            <a:ext cx="392965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Twin ICS Tools (Siemens, AWS)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52336" y="5876806"/>
            <a:ext cx="3925848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monitoring only, no malware classification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93950" y="5876806"/>
            <a:ext cx="3929658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Integrated visual malware detection + Grad-CAM XAI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1410" y="6615113"/>
            <a:ext cx="13026271" cy="8560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1006912" y="6732865"/>
            <a:ext cx="3929658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 et al. (2024) IIoT Anomaly Detection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52336" y="6732865"/>
            <a:ext cx="3925848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Anomaly detection only, no multi-class variant ID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93950" y="6732865"/>
            <a:ext cx="3929658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Multi-class variant classification + MITRE ATT&amp;CK mapping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6920"/>
            <a:ext cx="445377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These Design Choices?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592937"/>
            <a:ext cx="62816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Solution Philosophy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64187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approach to solving the IIoT malware detection problem is founded on three core design pillars, each addressing critical shortcomings of existing methods.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622834"/>
            <a:ext cx="4347567" cy="907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756904"/>
            <a:ext cx="31806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 IIoT Simulation First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5247323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risk real hardware? → Software-based Digital Twin (Docker + Mininet) for risk-free malware execution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622834"/>
            <a:ext cx="4347567" cy="907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8171" y="47569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 Binary Analysis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368171" y="5247323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signatures fail? → Binary-to-grayscale images expose structural patterns that survive obfuscation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622834"/>
            <a:ext cx="4347567" cy="9072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15738" y="4756904"/>
            <a:ext cx="30876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Explainability by Design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715738" y="5247323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Black-box AI is unacceptable in critical infrastructure → Grad-CAM heatmaps + MITRE ATT&amp;CK mapping for every detection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4030"/>
            <a:ext cx="335018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End-to-End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93790" y="1183838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93790" y="2305407"/>
            <a:ext cx="2949416" cy="3977164"/>
          </a:xfrm>
          <a:prstGeom prst="roundRect">
            <a:avLst>
              <a:gd name="adj" fmla="val 3720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93790" y="2282547"/>
            <a:ext cx="2949416" cy="91440"/>
          </a:xfrm>
          <a:prstGeom prst="roundRect">
            <a:avLst>
              <a:gd name="adj" fmla="val 7814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2013347" y="2050256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2166461" y="2177772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5270" y="273069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86671" y="3047405"/>
            <a:ext cx="2563654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Digital Twin Simulation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6671" y="3812619"/>
            <a:ext cx="2563654" cy="2277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Docker containers (PLC, sensors, MQTT, Modbus)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realistic IIoT network topology with Mininet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synthetic normal traffic for baseline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Safely execute malware in isolated environment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5878" y="2305407"/>
            <a:ext cx="2949416" cy="3739039"/>
          </a:xfrm>
          <a:prstGeom prst="roundRect">
            <a:avLst>
              <a:gd name="adj" fmla="val 3720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4165878" y="2282547"/>
            <a:ext cx="2949416" cy="91440"/>
          </a:xfrm>
          <a:prstGeom prst="roundRect">
            <a:avLst>
              <a:gd name="adj" fmla="val 7814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5385435" y="2050256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538549" y="2177772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58759" y="273069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358759" y="3047405"/>
            <a:ext cx="2563654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Binary-to-Image Conversion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58759" y="3812619"/>
            <a:ext cx="2563654" cy="203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 and validate PE/ELF binary files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raw bytes into 128×128 grayscale image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SHA-256 hash for forensic tracking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 image + metadata instantly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37966" y="2305407"/>
            <a:ext cx="2949416" cy="3739039"/>
          </a:xfrm>
          <a:prstGeom prst="roundRect">
            <a:avLst>
              <a:gd name="adj" fmla="val 3720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7537966" y="2282547"/>
            <a:ext cx="2949416" cy="91440"/>
          </a:xfrm>
          <a:prstGeom prst="roundRect">
            <a:avLst>
              <a:gd name="adj" fmla="val 7814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8757523" y="2050256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910638" y="2177772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30847" y="273069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730847" y="3047405"/>
            <a:ext cx="2563654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&amp; Model Training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30847" y="3812619"/>
            <a:ext cx="2563654" cy="203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 and preprocess Malimg + VirusShare datasets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data augmentation and class balancing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Convolutional Neural Network (CNN)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Serialize trained model for inference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910054" y="2305407"/>
            <a:ext cx="2949416" cy="3739039"/>
          </a:xfrm>
          <a:prstGeom prst="roundRect">
            <a:avLst>
              <a:gd name="adj" fmla="val 3720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10910054" y="2282547"/>
            <a:ext cx="2949416" cy="91440"/>
          </a:xfrm>
          <a:prstGeom prst="roundRect">
            <a:avLst>
              <a:gd name="adj" fmla="val 7814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12129611" y="2050256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12282726" y="2177772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02935" y="273069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4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1102935" y="3047405"/>
            <a:ext cx="2563654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Detection, XAI &amp; Reporting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102935" y="3812619"/>
            <a:ext cx="2563654" cy="203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malware family/variant classification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Grad-CAM explainability heatmap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 results on Streamlit dashboard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Produce PDF + JSON report with MITRE ATT&amp;CK mapping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3790" y="6569512"/>
            <a:ext cx="13042821" cy="846058"/>
          </a:xfrm>
          <a:prstGeom prst="roundRect">
            <a:avLst>
              <a:gd name="adj" fmla="val 8445"/>
            </a:avLst>
          </a:prstGeom>
          <a:solidFill>
            <a:srgbClr val="D2D2E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11" y="6808470"/>
            <a:ext cx="212646" cy="170021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346478" y="6739533"/>
            <a:ext cx="1232011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Outputs: Grayscale binary image · Malware family prediction + confidence · Grad-CAM XAI heatmap · PDF + JSON forensic reports · MITRE ATT&amp;CK for ICS mapping · Detection history log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9956"/>
            <a:ext cx="801731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Dynamic Digital Twin + Binary-to-Image Engine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20659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Innovation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114913"/>
            <a:ext cx="4196358" cy="2946678"/>
          </a:xfrm>
          <a:prstGeom prst="roundRect">
            <a:avLst>
              <a:gd name="adj" fmla="val 323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1028224" y="334934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3536394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4256603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Binary bytes → 128×128 grayscale image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5101352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(structural textures persist across obfuscation)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114913"/>
            <a:ext cx="4196358" cy="2946678"/>
          </a:xfrm>
          <a:prstGeom prst="roundRect">
            <a:avLst>
              <a:gd name="adj" fmla="val 323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7"/>
          <p:cNvSpPr/>
          <p:nvPr/>
        </p:nvSpPr>
        <p:spPr>
          <a:xfrm>
            <a:off x="5451396" y="334934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536394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4256603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Docker + Mininet → Fully isolated IIoT testbed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5101352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(PLC, sensors, MQTT, Modbus)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114913"/>
            <a:ext cx="4196358" cy="2946678"/>
          </a:xfrm>
          <a:prstGeom prst="roundRect">
            <a:avLst>
              <a:gd name="adj" fmla="val 323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1"/>
          <p:cNvSpPr/>
          <p:nvPr/>
        </p:nvSpPr>
        <p:spPr>
          <a:xfrm>
            <a:off x="9874568" y="334934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1734" y="3536394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4256603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Grad-CAM → Visual explanation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5101352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 which byte regions drove the decision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793790" y="63167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Rule: Single observation is never enough — patterns are validated through augmentation and repeated structural evidence.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9284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Quantified Goals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93790" y="1253847"/>
            <a:ext cx="677525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Measurable Objectives &amp; System Scope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3790" y="195405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Objectives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93790" y="2292191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49094" y="2319873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21224" y="2340054"/>
            <a:ext cx="698634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a software-based Digital Twin for safe IIoT malware execution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93790" y="2815471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849094" y="2843153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21224" y="2863334"/>
            <a:ext cx="698634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complete binary-to-image conversion (PE/ELF → 128×128 grayscale)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3790" y="3338751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49094" y="3366433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21224" y="3386614"/>
            <a:ext cx="698634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data enhancement &amp; balancing to address dataset scarcity &amp; imbalance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3790" y="3862030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49094" y="3889712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21224" y="3909893"/>
            <a:ext cx="698634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&amp; evaluate CNN models for polymorphic &amp; zero-day malware variant detection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3790" y="4385310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849094" y="4412992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21224" y="4433173"/>
            <a:ext cx="698634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Achieve rigorous performance evaluation using accuracy, precision, recall, F1-score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3790" y="4908590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49094" y="4936272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21224" y="4956453"/>
            <a:ext cx="698634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Grad-CAM Explainable AI for transparent classification decisions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3790" y="5431869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849094" y="5459551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221224" y="5479733"/>
            <a:ext cx="698634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interactive Streamlit dashboard for file upload, visualization &amp; analysis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3790" y="5955149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849094" y="5982831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221224" y="6003012"/>
            <a:ext cx="6986349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automated PDF + JSON forensic reports with MITRE ATT&amp;CK for ICS mapping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574762" y="1966079"/>
            <a:ext cx="5269349" cy="2976920"/>
          </a:xfrm>
          <a:prstGeom prst="roundRect">
            <a:avLst>
              <a:gd name="adj" fmla="val 208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8582382" y="1973699"/>
            <a:ext cx="5254109" cy="2961680"/>
          </a:xfrm>
          <a:prstGeom prst="roundRect">
            <a:avLst>
              <a:gd name="adj" fmla="val 2091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10287953" y="212109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 Scope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729782" y="2447211"/>
            <a:ext cx="4959310" cy="2340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interconnected modules for end-to-end malware analysis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Software-based Digital Twin (Docker + Mininet) with PLCs, sensors, MQTT &amp; Modbus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Binary-to-Image conversion pipeline (raw bytes → standardized grayscale images)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collection, preprocessing &amp; augmentation from Malimg &amp; VirusShare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Convolutional Neural Network for malware family &amp; variant classification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Grad-CAM Explainable AI heatmaps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forensic reporting with MITRE ATT&amp;CK for ICS mappin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574762" y="5050750"/>
            <a:ext cx="5269349" cy="2131814"/>
          </a:xfrm>
          <a:prstGeom prst="roundRect">
            <a:avLst>
              <a:gd name="adj" fmla="val 290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10287953" y="520577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Known Limitations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729782" y="5531882"/>
            <a:ext cx="4959310" cy="149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Computational Overhead of Explainable AI (Grad-CAM requires backward pass)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Susceptibility to adversarial image perturbations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Containerized execution boundaries (no kernel-level or physical hardware emulation)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generalization limitations (primarily Windows PE samples)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Single-node research deployment (no distributed training)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1179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Chapter 2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793790" y="1203246"/>
            <a:ext cx="707159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Classes &amp; Operating Environment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93790" y="1866067"/>
            <a:ext cx="13042821" cy="1109782"/>
          </a:xfrm>
          <a:prstGeom prst="roundRect">
            <a:avLst>
              <a:gd name="adj" fmla="val 600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6650" y="1888927"/>
            <a:ext cx="635079" cy="1064062"/>
          </a:xfrm>
          <a:prstGeom prst="roundRect">
            <a:avLst>
              <a:gd name="adj" fmla="val 6181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11317" y="2272070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562814" y="204763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Security Researcher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62814" y="2362319"/>
            <a:ext cx="12092226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user. Conducts experiments in IIoT malware detection. Configures Digital Twin simulation, trains models, tunes augmentation, and generates research reports. Interacts with all eight modules. Daily use during active research.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3790" y="3086933"/>
            <a:ext cx="13042821" cy="1109782"/>
          </a:xfrm>
          <a:prstGeom prst="roundRect">
            <a:avLst>
              <a:gd name="adj" fmla="val 600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816650" y="3109793"/>
            <a:ext cx="635079" cy="1064062"/>
          </a:xfrm>
          <a:prstGeom prst="roundRect">
            <a:avLst>
              <a:gd name="adj" fmla="val 6181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1011317" y="349293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562814" y="326850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Security Analyst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562814" y="3583186"/>
            <a:ext cx="12092226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Industrial SOC analyst who uses the Streamlit dashboard to analyze suspicious IIoT binaries. Uploads samples, reviews predictions, XAI heatmaps, and downloads forensic reports. As-needed use during incident triage.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3790" y="4307800"/>
            <a:ext cx="13042821" cy="952619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816650" y="4330660"/>
            <a:ext cx="635079" cy="906899"/>
          </a:xfrm>
          <a:prstGeom prst="roundRect">
            <a:avLst>
              <a:gd name="adj" fmla="val 6181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1011317" y="463522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562814" y="448937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Administrator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62814" y="4804053"/>
            <a:ext cx="1209222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Responsible for deploying and maintaining the MalTwin framework. Manages Docker containers, Streamlit server, resources, and updates. Periodic maintenance tasks only.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3790" y="5371505"/>
            <a:ext cx="13042821" cy="1109782"/>
          </a:xfrm>
          <a:prstGeom prst="roundRect">
            <a:avLst>
              <a:gd name="adj" fmla="val 600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816650" y="5394365"/>
            <a:ext cx="635079" cy="1064062"/>
          </a:xfrm>
          <a:prstGeom prst="roundRect">
            <a:avLst>
              <a:gd name="adj" fmla="val 6181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1011317" y="577750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562814" y="5553075"/>
            <a:ext cx="302799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Academic Supervisor / Evaluator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562814" y="5867757"/>
            <a:ext cx="12092226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Reviews MalTwin outputs for academic assessment. Evaluates model performance, XAI explanations, and documentation quality. Interacts through reports and demonstration sessions.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3790" y="6606302"/>
            <a:ext cx="13042821" cy="762000"/>
          </a:xfrm>
          <a:prstGeom prst="roundRect">
            <a:avLst>
              <a:gd name="adj" fmla="val 8752"/>
            </a:avLst>
          </a:prstGeom>
          <a:solidFill>
            <a:srgbClr val="D2D2E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825734"/>
            <a:ext cx="198358" cy="15871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309568" y="6757035"/>
            <a:ext cx="12368332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Environment: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Ubuntu 22.04 LTS · Docker Engine 29.x + Mininet 2.3.0 · Python 3.14.x · Streamlit dashboard (Chrome/Firefox/Edge 120+) · CUDA 13.1 (optional GPU) · Min 8-core CPU, 16 GB RAM · Fully offline capable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01028"/>
            <a:ext cx="274736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Functional 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888325"/>
            <a:ext cx="3915966" cy="42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Functional Requirements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31520" y="1434941"/>
            <a:ext cx="13167360" cy="815102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46760" y="1450181"/>
            <a:ext cx="543401" cy="784622"/>
          </a:xfrm>
          <a:prstGeom prst="roundRect">
            <a:avLst>
              <a:gd name="adj" fmla="val 7136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912733" y="1715095"/>
            <a:ext cx="203716" cy="25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481" y="1586032"/>
            <a:ext cx="3187541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Digital Twin Simulation (Docker + Mininet)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481" y="1847017"/>
            <a:ext cx="12376309" cy="173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 safe and isolated environment for executing IIoT malware within a simulated industrial control system using Docker containers and Mininet for network emulation.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331363"/>
            <a:ext cx="13167360" cy="815102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746760" y="2346603"/>
            <a:ext cx="543401" cy="784622"/>
          </a:xfrm>
          <a:prstGeom prst="roundRect">
            <a:avLst>
              <a:gd name="adj" fmla="val 7136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912733" y="2611517"/>
            <a:ext cx="203716" cy="25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481" y="2482453"/>
            <a:ext cx="3150037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Binary-to-Image Conversion &amp; Metadata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481" y="2743438"/>
            <a:ext cx="12376309" cy="173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target binary executables into fixed-size grayscale images and extract relevant metadata for analysis, ensuring structural patterns are preserved.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227784"/>
            <a:ext cx="13167360" cy="815102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746760" y="3243024"/>
            <a:ext cx="543401" cy="784622"/>
          </a:xfrm>
          <a:prstGeom prst="roundRect">
            <a:avLst>
              <a:gd name="adj" fmla="val 7136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912733" y="3507938"/>
            <a:ext cx="203716" cy="25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481" y="3378875"/>
            <a:ext cx="3949779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Collection, Preprocessing &amp; Augmentation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481" y="3639860"/>
            <a:ext cx="12376309" cy="173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methods for collecting, pre-processing, and augmenting IIoT-specific malware datasets to address scarcity and class imbalance issues.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4124206"/>
            <a:ext cx="13167360" cy="815102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746760" y="4139446"/>
            <a:ext cx="543401" cy="784622"/>
          </a:xfrm>
          <a:prstGeom prst="roundRect">
            <a:avLst>
              <a:gd name="adj" fmla="val 7136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912733" y="4404360"/>
            <a:ext cx="203716" cy="25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481" y="4275296"/>
            <a:ext cx="3023116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Intelligent CNN Detection &amp; Evaluation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481" y="4536281"/>
            <a:ext cx="12376309" cy="173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and train a Convolutional Neural Network (CNN) for multi-class classification of IIoT malware families and variants, evaluating its performance against established metrics.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5020628"/>
            <a:ext cx="13167360" cy="815102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746760" y="5035867"/>
            <a:ext cx="543401" cy="784622"/>
          </a:xfrm>
          <a:prstGeom prst="roundRect">
            <a:avLst>
              <a:gd name="adj" fmla="val 7136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912733" y="5300782"/>
            <a:ext cx="203716" cy="25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481" y="5171718"/>
            <a:ext cx="2065377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Explainable AI (Grad-CAM)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481" y="5432703"/>
            <a:ext cx="12376309" cy="173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Grad-CAM (Gradient-weighted Class Activation Mapping) to provide visual explanations of CNN decisions by highlighting critical byte regions in binary images.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5917049"/>
            <a:ext cx="13167360" cy="815102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746760" y="5932289"/>
            <a:ext cx="543401" cy="784622"/>
          </a:xfrm>
          <a:prstGeom prst="roundRect">
            <a:avLst>
              <a:gd name="adj" fmla="val 7136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912733" y="6197203"/>
            <a:ext cx="203716" cy="25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71481" y="6068139"/>
            <a:ext cx="2465070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Streamlit Dashboard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71481" y="6329124"/>
            <a:ext cx="12376309" cy="173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a user-friendly Streamlit web application for real-time interaction, visualization of results, and exploration of detection outcomes.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1520" y="6813471"/>
            <a:ext cx="13167360" cy="815102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746760" y="6828711"/>
            <a:ext cx="543401" cy="784622"/>
          </a:xfrm>
          <a:prstGeom prst="roundRect">
            <a:avLst>
              <a:gd name="adj" fmla="val 7136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912733" y="7093625"/>
            <a:ext cx="203716" cy="25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71481" y="6964561"/>
            <a:ext cx="4115753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Forensic Reporting (PDF + JSON + MITRE)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71481" y="7225546"/>
            <a:ext cx="12376309" cy="173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comprehensive forensic reports in PDF and JSON formats, including MITRE ATT&amp;CK for ICS tactics, detection confidence, and an audit trail.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172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Quality Attributes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917740"/>
            <a:ext cx="78787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Non-Functional Requirements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966680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817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Reliability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307562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Isolation guarantees, no risk to physical infrastructure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966680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817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Usability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4307562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Browser-based Streamlit dashboard, one-click analysis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124093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59745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6464975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image processing &amp; inference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5124093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59745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Security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6884" y="6464975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malware execution strictly containerized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858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564600"/>
            <a:ext cx="61471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 and Technologies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613541"/>
            <a:ext cx="13042821" cy="4567476"/>
          </a:xfrm>
          <a:prstGeom prst="roundRect">
            <a:avLst>
              <a:gd name="adj" fmla="val 208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01410" y="2621161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29653" y="276486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Tool/Technology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75077" y="2764869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716691" y="276486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271480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1029653" y="341518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+ Mininet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75077" y="3415189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IIoT Digital Twin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716691" y="341518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Safe, reproducible simulation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3921800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1029653" y="406550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375077" y="4065508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Dashboard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716691" y="406550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Rapid Python UI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4572119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1029653" y="471582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PyTorch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375077" y="4715828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Training &amp; Inference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716691" y="471582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Research-grade + Captum XAI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5222438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1029653" y="5366147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OpenCV + Pillow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5375077" y="5366147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Binary-to-Image Pipeline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716691" y="5366147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High-performance image handling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5872758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1029653" y="6016466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Captum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5375077" y="6016466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Grad-CAM Explainability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9716691" y="6016466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PyTorch integration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801410" y="6523077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1029653" y="6666786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5375077" y="6666786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Detection Logging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9716691" y="6666786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Zero-config local database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3458"/>
            <a:ext cx="383024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Genuinely New?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5094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Contributions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586752"/>
            <a:ext cx="226814" cy="22681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3790" y="2913459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793790" y="3087767"/>
            <a:ext cx="64079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 IIoT malware simulation via fully containerized Digital Twin</a:t>
            </a:r>
            <a:endParaRPr lang="en-US" sz="2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8548" y="2586752"/>
            <a:ext cx="226814" cy="22681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28548" y="2913459"/>
            <a:ext cx="6408063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5"/>
          <p:cNvSpPr/>
          <p:nvPr/>
        </p:nvSpPr>
        <p:spPr>
          <a:xfrm>
            <a:off x="7428548" y="3087767"/>
            <a:ext cx="640806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End-to-end binary-to-image detection pipeline for IIoT (PE + ELF)</a:t>
            </a:r>
            <a:endParaRPr lang="en-US" sz="2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221599"/>
            <a:ext cx="226814" cy="22681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93790" y="4548307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7"/>
          <p:cNvSpPr/>
          <p:nvPr/>
        </p:nvSpPr>
        <p:spPr>
          <a:xfrm>
            <a:off x="793790" y="4722614"/>
            <a:ext cx="64079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Domain-adapted data augmentation for grayscale malware images</a:t>
            </a:r>
            <a:endParaRPr lang="en-US" sz="2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8548" y="4221599"/>
            <a:ext cx="226814" cy="22681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428548" y="4548307"/>
            <a:ext cx="6408063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9"/>
          <p:cNvSpPr/>
          <p:nvPr/>
        </p:nvSpPr>
        <p:spPr>
          <a:xfrm>
            <a:off x="7428548" y="4722614"/>
            <a:ext cx="640806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Integrated Grad-CAM explainability directly on binary images</a:t>
            </a:r>
            <a:endParaRPr lang="en-US" sz="2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5856446"/>
            <a:ext cx="226814" cy="22681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93790" y="6183154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1"/>
          <p:cNvSpPr/>
          <p:nvPr/>
        </p:nvSpPr>
        <p:spPr>
          <a:xfrm>
            <a:off x="793790" y="6357461"/>
            <a:ext cx="64079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MITRE ATT&amp;CK for ICS threat intelligence mapping</a:t>
            </a:r>
            <a:endParaRPr lang="en-US" sz="2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8548" y="5856446"/>
            <a:ext cx="226814" cy="226814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428548" y="6183154"/>
            <a:ext cx="6408063" cy="3048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3"/>
          <p:cNvSpPr/>
          <p:nvPr/>
        </p:nvSpPr>
        <p:spPr>
          <a:xfrm>
            <a:off x="7428548" y="6357461"/>
            <a:ext cx="640806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Unified modular, fully reproducible research architecture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734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Summary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1633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MalTwin — Summary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212300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scalable, research-oriented framework that delivers:</a:t>
            </a:r>
            <a:endParaRPr lang="en-US" sz="6150" dirty="0"/>
          </a:p>
        </p:txBody>
      </p:sp>
      <p:sp>
        <p:nvSpPr>
          <p:cNvPr id="5" name="Shape 3"/>
          <p:cNvSpPr/>
          <p:nvPr/>
        </p:nvSpPr>
        <p:spPr>
          <a:xfrm>
            <a:off x="793790" y="450889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60" y="4593908"/>
            <a:ext cx="340162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4582597"/>
            <a:ext cx="564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 IIoT malware analysis via Digital Twin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56884" y="450889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1955" y="4593908"/>
            <a:ext cx="340162" cy="3401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94000" y="4582597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binary analysis resilient to obfuscation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54728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60" y="5557838"/>
            <a:ext cx="340162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0906" y="5546527"/>
            <a:ext cx="564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 + Explainable AI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456884" y="54728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1955" y="5557838"/>
            <a:ext cx="340162" cy="3401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94000" y="5546527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forensic intelligence with MITRE ATT&amp;CK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793790" y="62382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AI-Driven. Safe. Explainable. IIoT-First.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793790" y="685633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 — We Welcome Your Questions Iman Fatima · Maaz Malik Supervisor: Ms. Najla Raza COMSATS University Islamabad — Department of Computer Science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1490</Words>
  <Application>Microsoft Office PowerPoint</Application>
  <PresentationFormat>Custom</PresentationFormat>
  <Paragraphs>224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Raleway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Maaz Malik</cp:lastModifiedBy>
  <cp:revision>2</cp:revision>
  <dcterms:created xsi:type="dcterms:W3CDTF">2026-04-03T03:05:58Z</dcterms:created>
  <dcterms:modified xsi:type="dcterms:W3CDTF">2026-04-03T04:12:37Z</dcterms:modified>
</cp:coreProperties>
</file>