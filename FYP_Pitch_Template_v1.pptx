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58" r:id="rId5"/>
    <p:sldId id="259" r:id="rId6"/>
    <p:sldId id="264" r:id="rId7"/>
    <p:sldId id="265" r:id="rId8"/>
    <p:sldId id="266" r:id="rId9"/>
    <p:sldId id="267" r:id="rId10"/>
    <p:sldId id="26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42903-B3C9-4EE5-A170-4ADC8C0E93CC}" v="86" dt="2026-01-15T15:18:03.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52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az Malik" userId="08791110f026b724" providerId="LiveId" clId="{8C9877A4-A86F-47F4-BDFD-BF98054B9293}"/>
    <pc:docChg chg="undo custSel addSld delSld modSld">
      <pc:chgData name="Maaz Malik" userId="08791110f026b724" providerId="LiveId" clId="{8C9877A4-A86F-47F4-BDFD-BF98054B9293}" dt="2026-01-15T15:20:42.815" v="567" actId="12"/>
      <pc:docMkLst>
        <pc:docMk/>
      </pc:docMkLst>
      <pc:sldChg chg="modSp mod">
        <pc:chgData name="Maaz Malik" userId="08791110f026b724" providerId="LiveId" clId="{8C9877A4-A86F-47F4-BDFD-BF98054B9293}" dt="2026-01-15T15:15:28.092" v="522" actId="20577"/>
        <pc:sldMkLst>
          <pc:docMk/>
          <pc:sldMk cId="0" sldId="256"/>
        </pc:sldMkLst>
        <pc:spChg chg="mod">
          <ac:chgData name="Maaz Malik" userId="08791110f026b724" providerId="LiveId" clId="{8C9877A4-A86F-47F4-BDFD-BF98054B9293}" dt="2026-01-15T15:15:28.092" v="522" actId="20577"/>
          <ac:spMkLst>
            <pc:docMk/>
            <pc:sldMk cId="0" sldId="256"/>
            <ac:spMk id="3" creationId="{00000000-0000-0000-0000-000000000000}"/>
          </ac:spMkLst>
        </pc:spChg>
      </pc:sldChg>
      <pc:sldChg chg="modSp mod">
        <pc:chgData name="Maaz Malik" userId="08791110f026b724" providerId="LiveId" clId="{8C9877A4-A86F-47F4-BDFD-BF98054B9293}" dt="2026-01-15T15:16:22.810" v="528" actId="1076"/>
        <pc:sldMkLst>
          <pc:docMk/>
          <pc:sldMk cId="0" sldId="257"/>
        </pc:sldMkLst>
        <pc:spChg chg="mod">
          <ac:chgData name="Maaz Malik" userId="08791110f026b724" providerId="LiveId" clId="{8C9877A4-A86F-47F4-BDFD-BF98054B9293}" dt="2026-01-15T15:16:22.810" v="528" actId="1076"/>
          <ac:spMkLst>
            <pc:docMk/>
            <pc:sldMk cId="0" sldId="257"/>
            <ac:spMk id="3" creationId="{00000000-0000-0000-0000-000000000000}"/>
          </ac:spMkLst>
        </pc:spChg>
      </pc:sldChg>
      <pc:sldChg chg="addSp delSp modSp mod">
        <pc:chgData name="Maaz Malik" userId="08791110f026b724" providerId="LiveId" clId="{8C9877A4-A86F-47F4-BDFD-BF98054B9293}" dt="2026-01-15T15:05:51.815" v="488" actId="2711"/>
        <pc:sldMkLst>
          <pc:docMk/>
          <pc:sldMk cId="0" sldId="258"/>
        </pc:sldMkLst>
        <pc:spChg chg="add">
          <ac:chgData name="Maaz Malik" userId="08791110f026b724" providerId="LiveId" clId="{8C9877A4-A86F-47F4-BDFD-BF98054B9293}" dt="2026-01-15T15:04:50.625" v="476"/>
          <ac:spMkLst>
            <pc:docMk/>
            <pc:sldMk cId="0" sldId="258"/>
            <ac:spMk id="3" creationId="{E77CE893-D75C-B4BA-97FD-A1FB74269459}"/>
          </ac:spMkLst>
        </pc:spChg>
        <pc:spChg chg="add mod">
          <ac:chgData name="Maaz Malik" userId="08791110f026b724" providerId="LiveId" clId="{8C9877A4-A86F-47F4-BDFD-BF98054B9293}" dt="2026-01-15T15:05:51.815" v="488" actId="2711"/>
          <ac:spMkLst>
            <pc:docMk/>
            <pc:sldMk cId="0" sldId="258"/>
            <ac:spMk id="5" creationId="{3DC138E1-556F-B9BE-57DA-2A23022DE8FD}"/>
          </ac:spMkLst>
        </pc:spChg>
        <pc:spChg chg="del mod">
          <ac:chgData name="Maaz Malik" userId="08791110f026b724" providerId="LiveId" clId="{8C9877A4-A86F-47F4-BDFD-BF98054B9293}" dt="2026-01-15T15:05:01.992" v="480"/>
          <ac:spMkLst>
            <pc:docMk/>
            <pc:sldMk cId="0" sldId="258"/>
            <ac:spMk id="10" creationId="{85800A2D-A6F3-4467-A647-6E2D8706276B}"/>
          </ac:spMkLst>
        </pc:spChg>
        <pc:picChg chg="del">
          <ac:chgData name="Maaz Malik" userId="08791110f026b724" providerId="LiveId" clId="{8C9877A4-A86F-47F4-BDFD-BF98054B9293}" dt="2026-01-15T15:04:39.606" v="474" actId="478"/>
          <ac:picMkLst>
            <pc:docMk/>
            <pc:sldMk cId="0" sldId="258"/>
            <ac:picMk id="4" creationId="{E4E6DA50-1FEC-4016-8B29-ECF7FD2A2850}"/>
          </ac:picMkLst>
        </pc:picChg>
      </pc:sldChg>
      <pc:sldChg chg="modSp mod">
        <pc:chgData name="Maaz Malik" userId="08791110f026b724" providerId="LiveId" clId="{8C9877A4-A86F-47F4-BDFD-BF98054B9293}" dt="2026-01-15T15:17:19.726" v="534" actId="14100"/>
        <pc:sldMkLst>
          <pc:docMk/>
          <pc:sldMk cId="0" sldId="259"/>
        </pc:sldMkLst>
        <pc:spChg chg="mod">
          <ac:chgData name="Maaz Malik" userId="08791110f026b724" providerId="LiveId" clId="{8C9877A4-A86F-47F4-BDFD-BF98054B9293}" dt="2026-01-15T15:17:19.726" v="534" actId="14100"/>
          <ac:spMkLst>
            <pc:docMk/>
            <pc:sldMk cId="0" sldId="259"/>
            <ac:spMk id="3" creationId="{00000000-0000-0000-0000-000000000000}"/>
          </ac:spMkLst>
        </pc:spChg>
      </pc:sldChg>
      <pc:sldChg chg="addSp delSp modSp mod">
        <pc:chgData name="Maaz Malik" userId="08791110f026b724" providerId="LiveId" clId="{8C9877A4-A86F-47F4-BDFD-BF98054B9293}" dt="2026-01-15T15:14:37.316" v="502" actId="1076"/>
        <pc:sldMkLst>
          <pc:docMk/>
          <pc:sldMk cId="0" sldId="260"/>
        </pc:sldMkLst>
        <pc:spChg chg="add del mod">
          <ac:chgData name="Maaz Malik" userId="08791110f026b724" providerId="LiveId" clId="{8C9877A4-A86F-47F4-BDFD-BF98054B9293}" dt="2026-01-15T15:14:17.721" v="498"/>
          <ac:spMkLst>
            <pc:docMk/>
            <pc:sldMk cId="0" sldId="260"/>
            <ac:spMk id="3" creationId="{8C084ED7-3A3C-A220-50FF-FFA036BA4F6C}"/>
          </ac:spMkLst>
        </pc:spChg>
        <pc:spChg chg="add mod">
          <ac:chgData name="Maaz Malik" userId="08791110f026b724" providerId="LiveId" clId="{8C9877A4-A86F-47F4-BDFD-BF98054B9293}" dt="2026-01-15T15:14:37.316" v="502" actId="1076"/>
          <ac:spMkLst>
            <pc:docMk/>
            <pc:sldMk cId="0" sldId="260"/>
            <ac:spMk id="4" creationId="{150D0535-244D-2093-3C4E-A258882D31BF}"/>
          </ac:spMkLst>
        </pc:spChg>
        <pc:spChg chg="add del mod">
          <ac:chgData name="Maaz Malik" userId="08791110f026b724" providerId="LiveId" clId="{8C9877A4-A86F-47F4-BDFD-BF98054B9293}" dt="2026-01-14T09:18:49.081" v="156" actId="478"/>
          <ac:spMkLst>
            <pc:docMk/>
            <pc:sldMk cId="0" sldId="260"/>
            <ac:spMk id="4" creationId="{C1D2A1C7-A83D-5997-8850-79ECD8251A3C}"/>
          </ac:spMkLst>
        </pc:spChg>
        <pc:spChg chg="add del mod">
          <ac:chgData name="Maaz Malik" userId="08791110f026b724" providerId="LiveId" clId="{8C9877A4-A86F-47F4-BDFD-BF98054B9293}" dt="2026-01-14T09:18:49.089" v="160"/>
          <ac:spMkLst>
            <pc:docMk/>
            <pc:sldMk cId="0" sldId="260"/>
            <ac:spMk id="5" creationId="{487B40E8-BAB2-B245-B927-E4EC1C3C5B13}"/>
          </ac:spMkLst>
        </pc:spChg>
        <pc:spChg chg="del mod">
          <ac:chgData name="Maaz Malik" userId="08791110f026b724" providerId="LiveId" clId="{8C9877A4-A86F-47F4-BDFD-BF98054B9293}" dt="2026-01-14T09:18:49.089" v="158"/>
          <ac:spMkLst>
            <pc:docMk/>
            <pc:sldMk cId="0" sldId="260"/>
            <ac:spMk id="6" creationId="{79E0D333-4ECE-42F8-B114-315168A2AEFA}"/>
          </ac:spMkLst>
        </pc:spChg>
      </pc:sldChg>
      <pc:sldChg chg="modSp mod">
        <pc:chgData name="Maaz Malik" userId="08791110f026b724" providerId="LiveId" clId="{8C9877A4-A86F-47F4-BDFD-BF98054B9293}" dt="2026-01-15T15:14:56.870" v="506" actId="12"/>
        <pc:sldMkLst>
          <pc:docMk/>
          <pc:sldMk cId="0" sldId="261"/>
        </pc:sldMkLst>
        <pc:spChg chg="mod">
          <ac:chgData name="Maaz Malik" userId="08791110f026b724" providerId="LiveId" clId="{8C9877A4-A86F-47F4-BDFD-BF98054B9293}" dt="2026-01-15T15:14:56.870" v="506" actId="12"/>
          <ac:spMkLst>
            <pc:docMk/>
            <pc:sldMk cId="0" sldId="261"/>
            <ac:spMk id="3" creationId="{00000000-0000-0000-0000-000000000000}"/>
          </ac:spMkLst>
        </pc:spChg>
      </pc:sldChg>
      <pc:sldChg chg="modSp mod">
        <pc:chgData name="Maaz Malik" userId="08791110f026b724" providerId="LiveId" clId="{8C9877A4-A86F-47F4-BDFD-BF98054B9293}" dt="2026-01-15T15:20:28.117" v="565" actId="12"/>
        <pc:sldMkLst>
          <pc:docMk/>
          <pc:sldMk cId="0" sldId="262"/>
        </pc:sldMkLst>
        <pc:spChg chg="mod">
          <ac:chgData name="Maaz Malik" userId="08791110f026b724" providerId="LiveId" clId="{8C9877A4-A86F-47F4-BDFD-BF98054B9293}" dt="2026-01-15T15:20:28.117" v="565" actId="12"/>
          <ac:spMkLst>
            <pc:docMk/>
            <pc:sldMk cId="0" sldId="262"/>
            <ac:spMk id="3" creationId="{00000000-0000-0000-0000-000000000000}"/>
          </ac:spMkLst>
        </pc:spChg>
      </pc:sldChg>
      <pc:sldChg chg="modSp mod">
        <pc:chgData name="Maaz Malik" userId="08791110f026b724" providerId="LiveId" clId="{8C9877A4-A86F-47F4-BDFD-BF98054B9293}" dt="2026-01-15T15:20:42.815" v="567" actId="12"/>
        <pc:sldMkLst>
          <pc:docMk/>
          <pc:sldMk cId="0" sldId="263"/>
        </pc:sldMkLst>
        <pc:spChg chg="mod">
          <ac:chgData name="Maaz Malik" userId="08791110f026b724" providerId="LiveId" clId="{8C9877A4-A86F-47F4-BDFD-BF98054B9293}" dt="2026-01-15T15:20:42.815" v="567" actId="12"/>
          <ac:spMkLst>
            <pc:docMk/>
            <pc:sldMk cId="0" sldId="263"/>
            <ac:spMk id="3" creationId="{00000000-0000-0000-0000-000000000000}"/>
          </ac:spMkLst>
        </pc:spChg>
      </pc:sldChg>
      <pc:sldChg chg="modSp mod">
        <pc:chgData name="Maaz Malik" userId="08791110f026b724" providerId="LiveId" clId="{8C9877A4-A86F-47F4-BDFD-BF98054B9293}" dt="2026-01-15T15:17:28.117" v="537" actId="20577"/>
        <pc:sldMkLst>
          <pc:docMk/>
          <pc:sldMk cId="1444790038" sldId="264"/>
        </pc:sldMkLst>
        <pc:spChg chg="mod">
          <ac:chgData name="Maaz Malik" userId="08791110f026b724" providerId="LiveId" clId="{8C9877A4-A86F-47F4-BDFD-BF98054B9293}" dt="2026-01-15T15:17:28.117" v="537" actId="20577"/>
          <ac:spMkLst>
            <pc:docMk/>
            <pc:sldMk cId="1444790038" sldId="264"/>
            <ac:spMk id="6" creationId="{93DA4754-C54A-32E1-4609-04778E384A21}"/>
          </ac:spMkLst>
        </pc:spChg>
      </pc:sldChg>
      <pc:sldChg chg="addSp modSp mod">
        <pc:chgData name="Maaz Malik" userId="08791110f026b724" providerId="LiveId" clId="{8C9877A4-A86F-47F4-BDFD-BF98054B9293}" dt="2026-01-15T15:18:10.439" v="544" actId="20577"/>
        <pc:sldMkLst>
          <pc:docMk/>
          <pc:sldMk cId="1717857966" sldId="265"/>
        </pc:sldMkLst>
        <pc:spChg chg="mod">
          <ac:chgData name="Maaz Malik" userId="08791110f026b724" providerId="LiveId" clId="{8C9877A4-A86F-47F4-BDFD-BF98054B9293}" dt="2026-01-14T08:42:33.125" v="2" actId="27636"/>
          <ac:spMkLst>
            <pc:docMk/>
            <pc:sldMk cId="1717857966" sldId="265"/>
            <ac:spMk id="3" creationId="{533884B8-6ACF-F01B-E6B2-6D831BFC86A8}"/>
          </ac:spMkLst>
        </pc:spChg>
        <pc:spChg chg="add">
          <ac:chgData name="Maaz Malik" userId="08791110f026b724" providerId="LiveId" clId="{8C9877A4-A86F-47F4-BDFD-BF98054B9293}" dt="2026-01-14T08:42:31.125" v="0"/>
          <ac:spMkLst>
            <pc:docMk/>
            <pc:sldMk cId="1717857966" sldId="265"/>
            <ac:spMk id="4" creationId="{697D6531-A18F-2421-C754-7A56E3B11380}"/>
          </ac:spMkLst>
        </pc:spChg>
        <pc:spChg chg="add mod">
          <ac:chgData name="Maaz Malik" userId="08791110f026b724" providerId="LiveId" clId="{8C9877A4-A86F-47F4-BDFD-BF98054B9293}" dt="2026-01-15T15:18:10.439" v="544" actId="20577"/>
          <ac:spMkLst>
            <pc:docMk/>
            <pc:sldMk cId="1717857966" sldId="265"/>
            <ac:spMk id="5" creationId="{196FECA8-1441-AF84-1B92-C4F81A17086C}"/>
          </ac:spMkLst>
        </pc:spChg>
      </pc:sldChg>
      <pc:sldChg chg="modSp mod">
        <pc:chgData name="Maaz Malik" userId="08791110f026b724" providerId="LiveId" clId="{8C9877A4-A86F-47F4-BDFD-BF98054B9293}" dt="2026-01-15T15:18:33.061" v="563" actId="20577"/>
        <pc:sldMkLst>
          <pc:docMk/>
          <pc:sldMk cId="1687268274" sldId="266"/>
        </pc:sldMkLst>
        <pc:spChg chg="mod">
          <ac:chgData name="Maaz Malik" userId="08791110f026b724" providerId="LiveId" clId="{8C9877A4-A86F-47F4-BDFD-BF98054B9293}" dt="2026-01-15T15:18:33.061" v="563" actId="20577"/>
          <ac:spMkLst>
            <pc:docMk/>
            <pc:sldMk cId="1687268274" sldId="266"/>
            <ac:spMk id="3" creationId="{EF5FC1D3-ECE9-BB25-62ED-B17A38C14008}"/>
          </ac:spMkLst>
        </pc:spChg>
      </pc:sldChg>
      <pc:sldChg chg="addSp delSp modSp new mod">
        <pc:chgData name="Maaz Malik" userId="08791110f026b724" providerId="LiveId" clId="{8C9877A4-A86F-47F4-BDFD-BF98054B9293}" dt="2026-01-14T09:22:00.761" v="304" actId="1076"/>
        <pc:sldMkLst>
          <pc:docMk/>
          <pc:sldMk cId="2621322811" sldId="267"/>
        </pc:sldMkLst>
        <pc:spChg chg="mod">
          <ac:chgData name="Maaz Malik" userId="08791110f026b724" providerId="LiveId" clId="{8C9877A4-A86F-47F4-BDFD-BF98054B9293}" dt="2026-01-14T09:09:52.495" v="83" actId="207"/>
          <ac:spMkLst>
            <pc:docMk/>
            <pc:sldMk cId="2621322811" sldId="267"/>
            <ac:spMk id="2" creationId="{54DE223C-A368-B64F-157C-706D80FFD2FB}"/>
          </ac:spMkLst>
        </pc:spChg>
        <pc:spChg chg="del">
          <ac:chgData name="Maaz Malik" userId="08791110f026b724" providerId="LiveId" clId="{8C9877A4-A86F-47F4-BDFD-BF98054B9293}" dt="2026-01-14T09:10:20.667" v="84"/>
          <ac:spMkLst>
            <pc:docMk/>
            <pc:sldMk cId="2621322811" sldId="267"/>
            <ac:spMk id="3" creationId="{6C0BAA50-26E6-6585-1893-5541E929D3A3}"/>
          </ac:spMkLst>
        </pc:spChg>
        <pc:spChg chg="add mod">
          <ac:chgData name="Maaz Malik" userId="08791110f026b724" providerId="LiveId" clId="{8C9877A4-A86F-47F4-BDFD-BF98054B9293}" dt="2026-01-14T09:22:00.761" v="304" actId="1076"/>
          <ac:spMkLst>
            <pc:docMk/>
            <pc:sldMk cId="2621322811" sldId="267"/>
            <ac:spMk id="4" creationId="{60AF4F28-7515-1604-E4A9-CD28BD295BCB}"/>
          </ac:spMkLst>
        </pc:spChg>
      </pc:sldChg>
      <pc:sldChg chg="addSp delSp modSp new mod">
        <pc:chgData name="Maaz Malik" userId="08791110f026b724" providerId="LiveId" clId="{8C9877A4-A86F-47F4-BDFD-BF98054B9293}" dt="2026-01-15T15:15:55.173" v="525" actId="1076"/>
        <pc:sldMkLst>
          <pc:docMk/>
          <pc:sldMk cId="1044416219" sldId="268"/>
        </pc:sldMkLst>
        <pc:spChg chg="mod">
          <ac:chgData name="Maaz Malik" userId="08791110f026b724" providerId="LiveId" clId="{8C9877A4-A86F-47F4-BDFD-BF98054B9293}" dt="2026-01-15T15:04:17.351" v="473" actId="1076"/>
          <ac:spMkLst>
            <pc:docMk/>
            <pc:sldMk cId="1044416219" sldId="268"/>
            <ac:spMk id="2" creationId="{C8881100-C6A6-7B15-FD77-2031BC263CCD}"/>
          </ac:spMkLst>
        </pc:spChg>
        <pc:spChg chg="add">
          <ac:chgData name="Maaz Malik" userId="08791110f026b724" providerId="LiveId" clId="{8C9877A4-A86F-47F4-BDFD-BF98054B9293}" dt="2026-01-15T15:01:01.423" v="459"/>
          <ac:spMkLst>
            <pc:docMk/>
            <pc:sldMk cId="1044416219" sldId="268"/>
            <ac:spMk id="3" creationId="{152434A0-0FE0-BD21-D88B-2E215C76F81D}"/>
          </ac:spMkLst>
        </pc:spChg>
        <pc:spChg chg="del">
          <ac:chgData name="Maaz Malik" userId="08791110f026b724" providerId="LiveId" clId="{8C9877A4-A86F-47F4-BDFD-BF98054B9293}" dt="2026-01-14T09:27:28.540" v="330"/>
          <ac:spMkLst>
            <pc:docMk/>
            <pc:sldMk cId="1044416219" sldId="268"/>
            <ac:spMk id="3" creationId="{B6FE89C8-3B07-63C7-FBA2-742527CD07E7}"/>
          </ac:spMkLst>
        </pc:spChg>
        <pc:spChg chg="add del mod">
          <ac:chgData name="Maaz Malik" userId="08791110f026b724" providerId="LiveId" clId="{8C9877A4-A86F-47F4-BDFD-BF98054B9293}" dt="2026-01-15T15:01:05.438" v="461"/>
          <ac:spMkLst>
            <pc:docMk/>
            <pc:sldMk cId="1044416219" sldId="268"/>
            <ac:spMk id="4" creationId="{8AA7408A-FA36-D3DB-A78B-FB16D4297378}"/>
          </ac:spMkLst>
        </pc:spChg>
        <pc:spChg chg="add mod">
          <ac:chgData name="Maaz Malik" userId="08791110f026b724" providerId="LiveId" clId="{8C9877A4-A86F-47F4-BDFD-BF98054B9293}" dt="2026-01-15T15:15:55.173" v="525" actId="1076"/>
          <ac:spMkLst>
            <pc:docMk/>
            <pc:sldMk cId="1044416219" sldId="268"/>
            <ac:spMk id="5" creationId="{22F606E8-9DC4-2CAD-37AF-82D4BB978B92}"/>
          </ac:spMkLst>
        </pc:spChg>
      </pc:sldChg>
      <pc:sldChg chg="new del">
        <pc:chgData name="Maaz Malik" userId="08791110f026b724" providerId="LiveId" clId="{8C9877A4-A86F-47F4-BDFD-BF98054B9293}" dt="2026-01-14T09:26:55.241" v="306" actId="2696"/>
        <pc:sldMkLst>
          <pc:docMk/>
          <pc:sldMk cId="4018616248" sldId="268"/>
        </pc:sldMkLst>
      </pc:sldChg>
      <pc:sldChg chg="modSp new mod">
        <pc:chgData name="Maaz Malik" userId="08791110f026b724" providerId="LiveId" clId="{8C9877A4-A86F-47F4-BDFD-BF98054B9293}" dt="2026-01-14T09:35:48.078" v="434" actId="20577"/>
        <pc:sldMkLst>
          <pc:docMk/>
          <pc:sldMk cId="2731757970" sldId="269"/>
        </pc:sldMkLst>
        <pc:spChg chg="mod">
          <ac:chgData name="Maaz Malik" userId="08791110f026b724" providerId="LiveId" clId="{8C9877A4-A86F-47F4-BDFD-BF98054B9293}" dt="2026-01-14T09:34:22.608" v="384" actId="207"/>
          <ac:spMkLst>
            <pc:docMk/>
            <pc:sldMk cId="2731757970" sldId="269"/>
            <ac:spMk id="2" creationId="{BD8F6469-EB5A-496C-E1C8-EFDED3036303}"/>
          </ac:spMkLst>
        </pc:spChg>
        <pc:spChg chg="mod">
          <ac:chgData name="Maaz Malik" userId="08791110f026b724" providerId="LiveId" clId="{8C9877A4-A86F-47F4-BDFD-BF98054B9293}" dt="2026-01-14T09:35:48.078" v="434" actId="20577"/>
          <ac:spMkLst>
            <pc:docMk/>
            <pc:sldMk cId="2731757970" sldId="269"/>
            <ac:spMk id="3" creationId="{FBF9E6FC-4EA9-8905-76E4-40D589914F8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68"/>
            <a:ext cx="8229600" cy="1143000"/>
          </a:xfrm>
        </p:spPr>
        <p:txBody>
          <a:bodyPr>
            <a:normAutofit fontScale="90000"/>
          </a:bodyPr>
          <a:lstStyle/>
          <a:p>
            <a:pPr algn="l"/>
            <a:r>
              <a:rPr lang="en-US" b="1" dirty="0">
                <a:solidFill>
                  <a:srgbClr val="003366"/>
                </a:solidFill>
              </a:rPr>
              <a:t>Project Title &amp; Aim</a:t>
            </a:r>
            <a:br>
              <a:rPr lang="en-US" b="1" dirty="0">
                <a:solidFill>
                  <a:srgbClr val="003366"/>
                </a:solidFill>
              </a:rPr>
            </a:br>
            <a:endParaRPr dirty="0"/>
          </a:p>
        </p:txBody>
      </p:sp>
      <p:sp>
        <p:nvSpPr>
          <p:cNvPr id="3" name="TextBox 2"/>
          <p:cNvSpPr txBox="1"/>
          <p:nvPr/>
        </p:nvSpPr>
        <p:spPr>
          <a:xfrm>
            <a:off x="457200" y="1548882"/>
            <a:ext cx="8229600" cy="2246769"/>
          </a:xfrm>
          <a:prstGeom prst="rect">
            <a:avLst/>
          </a:prstGeom>
          <a:noFill/>
        </p:spPr>
        <p:txBody>
          <a:bodyPr wrap="square">
            <a:spAutoFit/>
          </a:bodyPr>
          <a:lstStyle/>
          <a:p>
            <a:r>
              <a:rPr lang="en-US" sz="2000" b="1" dirty="0" err="1"/>
              <a:t>MalTwin</a:t>
            </a:r>
            <a:r>
              <a:rPr lang="en-US" sz="2000" b="1" dirty="0"/>
              <a:t>: An AI-Based Framework for Malware Variant Detection in Industrial IoT Using Digital Twins and Visual Analysis</a:t>
            </a:r>
            <a:br>
              <a:rPr lang="en-US" sz="2000" b="1" dirty="0"/>
            </a:br>
            <a:endParaRPr lang="en-US" sz="2000" dirty="0"/>
          </a:p>
          <a:p>
            <a:r>
              <a:rPr lang="en-US" sz="2000" b="1" dirty="0"/>
              <a:t>Project Aim</a:t>
            </a:r>
            <a:br>
              <a:rPr lang="en-US" sz="2000" dirty="0"/>
            </a:br>
            <a:r>
              <a:rPr lang="en-US" sz="2000" dirty="0"/>
              <a:t>To safely detect and classify evolving malware variants in Industrial IoT environments using Digital Twin based simulation, visual binary analysis, and intelligent learning-based detection.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81100-C6A6-7B15-FD77-2031BC263CCD}"/>
              </a:ext>
            </a:extLst>
          </p:cNvPr>
          <p:cNvSpPr>
            <a:spLocks noGrp="1"/>
          </p:cNvSpPr>
          <p:nvPr>
            <p:ph type="title"/>
          </p:nvPr>
        </p:nvSpPr>
        <p:spPr>
          <a:xfrm>
            <a:off x="457200" y="86400"/>
            <a:ext cx="8229600" cy="1143000"/>
          </a:xfrm>
        </p:spPr>
        <p:txBody>
          <a:bodyPr>
            <a:normAutofit/>
          </a:bodyPr>
          <a:lstStyle/>
          <a:p>
            <a:pPr algn="l"/>
            <a:r>
              <a:rPr lang="en-US" sz="4000" b="1" dirty="0">
                <a:solidFill>
                  <a:schemeClr val="tx2"/>
                </a:solidFill>
              </a:rPr>
              <a:t>Problem Statement</a:t>
            </a:r>
            <a:endParaRPr lang="en-AU" sz="4000" b="1" dirty="0">
              <a:solidFill>
                <a:schemeClr val="tx2"/>
              </a:solidFill>
            </a:endParaRPr>
          </a:p>
        </p:txBody>
      </p:sp>
      <p:sp>
        <p:nvSpPr>
          <p:cNvPr id="5" name="Rectangle 2">
            <a:extLst>
              <a:ext uri="{FF2B5EF4-FFF2-40B4-BE49-F238E27FC236}">
                <a16:creationId xmlns:a16="http://schemas.microsoft.com/office/drawing/2014/main" id="{22F606E8-9DC4-2CAD-37AF-82D4BB978B92}"/>
              </a:ext>
            </a:extLst>
          </p:cNvPr>
          <p:cNvSpPr>
            <a:spLocks noGrp="1" noChangeArrowheads="1"/>
          </p:cNvSpPr>
          <p:nvPr>
            <p:ph idx="1"/>
          </p:nvPr>
        </p:nvSpPr>
        <p:spPr bwMode="auto">
          <a:xfrm>
            <a:off x="54428" y="1204956"/>
            <a:ext cx="903514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rPr>
              <a:t>Industrial IoT (IIoT) systems are integral to critical infrastructure (e.g., manufacturing, energy grids, and transportation), making live malware testing highly risky and impractical.</a:t>
            </a:r>
            <a:r>
              <a:rPr kumimoji="0" lang="en-US" altLang="en-US" sz="1800" b="0" i="0" u="none" strike="noStrike" cap="none" normalizeH="0" baseline="0" dirty="0">
                <a:ln>
                  <a:noFill/>
                </a:ln>
                <a:solidFill>
                  <a:schemeClr val="tx1"/>
                </a:solidFill>
                <a:effectLst/>
              </a:rPr>
              <a:t> This is because detonating malware on real hardware could cause irreversible physical damage (e.g., equipment failure), operational downtime leading to economic losses, safety hazards to human operators, and cascading disruptions in interconnected systems, issues highlighted by attacks like Stuxnet on SCADA environments. </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rPr>
              <a:t>Traditional signature-based antivirus fails against polymorphic and zero-day malware,</a:t>
            </a:r>
            <a:r>
              <a:rPr kumimoji="0" lang="en-US" altLang="en-US" sz="1800" b="0" i="0" u="none" strike="noStrike" cap="none" normalizeH="0" baseline="0" dirty="0">
                <a:ln>
                  <a:noFill/>
                </a:ln>
                <a:solidFill>
                  <a:schemeClr val="tx1"/>
                </a:solidFill>
                <a:effectLst/>
              </a:rPr>
              <a:t> as even minor code modifications (e.g., obfuscation or packing) allow variants to evade detection without altering core functionality. </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rPr>
              <a:t>Existing image-based malware detection only analyzes static binaries and ignores runtime behavior,</a:t>
            </a:r>
            <a:r>
              <a:rPr kumimoji="0" lang="en-US" altLang="en-US" sz="1800" b="0" i="0" u="none" strike="noStrike" cap="none" normalizeH="0" baseline="0" dirty="0">
                <a:ln>
                  <a:noFill/>
                </a:ln>
                <a:solidFill>
                  <a:schemeClr val="tx1"/>
                </a:solidFill>
                <a:effectLst/>
              </a:rPr>
              <a:t> limiting its ability to capture how malware interacts with IIoT protocols or networks in real-time scenarios. </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rPr>
              <a:t>Public malware datasets lack IIoT-specific samples, industrial protocols (e.g., Modbus, MQTT), and realistic attack scenarios,</a:t>
            </a:r>
            <a:r>
              <a:rPr kumimoji="0" lang="en-US" altLang="en-US" sz="1800" b="0" i="0" u="none" strike="noStrike" cap="none" normalizeH="0" baseline="0" dirty="0">
                <a:ln>
                  <a:noFill/>
                </a:ln>
                <a:solidFill>
                  <a:schemeClr val="tx1"/>
                </a:solidFill>
                <a:effectLst/>
              </a:rPr>
              <a:t> resulting in imbalanced data that hinders model generalization and accuracy for industrial contexts. </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rPr>
              <a:t>There is no unified framework that safely combines static visual analysis with runtime behavioral validation for IIoT environments,</a:t>
            </a:r>
            <a:r>
              <a:rPr kumimoji="0" lang="en-US" altLang="en-US" sz="1800" b="0" i="0" u="none" strike="noStrike" cap="none" normalizeH="0" baseline="0" dirty="0">
                <a:ln>
                  <a:noFill/>
                </a:ln>
                <a:solidFill>
                  <a:schemeClr val="tx1"/>
                </a:solidFill>
                <a:effectLst/>
              </a:rPr>
              <a:t> leaving a gap in secure, scalable tools for detecting evolving threats without endangering physical assets. </a:t>
            </a:r>
          </a:p>
        </p:txBody>
      </p:sp>
    </p:spTree>
    <p:extLst>
      <p:ext uri="{BB962C8B-B14F-4D97-AF65-F5344CB8AC3E}">
        <p14:creationId xmlns:p14="http://schemas.microsoft.com/office/powerpoint/2010/main" val="104441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6115"/>
            <a:ext cx="8229600" cy="1143000"/>
          </a:xfrm>
        </p:spPr>
        <p:txBody>
          <a:bodyPr>
            <a:normAutofit fontScale="90000"/>
          </a:bodyPr>
          <a:lstStyle/>
          <a:p>
            <a:pPr algn="l"/>
            <a:r>
              <a:rPr lang="en-US" b="1" dirty="0">
                <a:solidFill>
                  <a:srgbClr val="003366"/>
                </a:solidFill>
              </a:rPr>
              <a:t>Existing Solutions</a:t>
            </a:r>
            <a:br>
              <a:rPr lang="en-US" b="1" dirty="0">
                <a:solidFill>
                  <a:srgbClr val="003366"/>
                </a:solidFill>
              </a:rPr>
            </a:br>
            <a:endParaRPr dirty="0"/>
          </a:p>
        </p:txBody>
      </p:sp>
      <p:sp>
        <p:nvSpPr>
          <p:cNvPr id="3" name="TextBox 2"/>
          <p:cNvSpPr txBox="1"/>
          <p:nvPr/>
        </p:nvSpPr>
        <p:spPr>
          <a:xfrm>
            <a:off x="233120" y="1462130"/>
            <a:ext cx="8677760" cy="4708981"/>
          </a:xfrm>
          <a:prstGeom prst="rect">
            <a:avLst/>
          </a:prstGeom>
          <a:noFill/>
        </p:spPr>
        <p:txBody>
          <a:bodyPr wrap="none">
            <a:spAutoFit/>
          </a:bodyPr>
          <a:lstStyle/>
          <a:p>
            <a:r>
              <a:rPr lang="en-US" sz="2000" b="1" dirty="0"/>
              <a:t>Related Systems / Literature</a:t>
            </a:r>
            <a:endParaRPr lang="en-US" sz="2000" dirty="0"/>
          </a:p>
          <a:p>
            <a:pPr marL="342900" indent="-342900">
              <a:buFont typeface="Arial" panose="020B0604020202020204" pitchFamily="34" charset="0"/>
              <a:buChar char="•"/>
            </a:pPr>
            <a:r>
              <a:rPr lang="en-US" sz="2000" dirty="0"/>
              <a:t>Traditional signature-based antivirus solutions used in industrial environments</a:t>
            </a:r>
          </a:p>
          <a:p>
            <a:pPr marL="342900" indent="-342900">
              <a:buFont typeface="Arial" panose="020B0604020202020204" pitchFamily="34" charset="0"/>
              <a:buChar char="•"/>
            </a:pPr>
            <a:r>
              <a:rPr lang="en-US" sz="2000" dirty="0"/>
              <a:t>Image-based malware detection approaches (e.g., </a:t>
            </a:r>
            <a:r>
              <a:rPr lang="en-US" sz="2000" dirty="0" err="1"/>
              <a:t>Malimg</a:t>
            </a:r>
            <a:r>
              <a:rPr lang="en-US" sz="2000" dirty="0"/>
              <a:t>)</a:t>
            </a:r>
          </a:p>
          <a:p>
            <a:pPr marL="342900" indent="-342900">
              <a:buFont typeface="Arial" panose="020B0604020202020204" pitchFamily="34" charset="0"/>
              <a:buChar char="•"/>
            </a:pPr>
            <a:r>
              <a:rPr lang="en-US" sz="2000" dirty="0"/>
              <a:t>Learning-based malware detection frameworks</a:t>
            </a:r>
          </a:p>
          <a:p>
            <a:pPr marL="342900" indent="-342900">
              <a:buFont typeface="Arial" panose="020B0604020202020204" pitchFamily="34" charset="0"/>
              <a:buChar char="•"/>
            </a:pPr>
            <a:r>
              <a:rPr lang="en-US" sz="2000" dirty="0"/>
              <a:t>Digital Twin tools for industrial system monitoring</a:t>
            </a:r>
          </a:p>
          <a:p>
            <a:r>
              <a:rPr lang="en-US" sz="2000" b="1" dirty="0"/>
              <a:t>What Is Already Available</a:t>
            </a:r>
            <a:endParaRPr lang="en-US" sz="2000" dirty="0"/>
          </a:p>
          <a:p>
            <a:pPr marL="342900" indent="-342900">
              <a:buFont typeface="Arial" panose="020B0604020202020204" pitchFamily="34" charset="0"/>
              <a:buChar char="•"/>
            </a:pPr>
            <a:r>
              <a:rPr lang="en-US" sz="2000" dirty="0"/>
              <a:t>Signature-based malware scanners</a:t>
            </a:r>
          </a:p>
          <a:p>
            <a:pPr marL="342900" indent="-342900">
              <a:buFont typeface="Arial" panose="020B0604020202020204" pitchFamily="34" charset="0"/>
              <a:buChar char="•"/>
            </a:pPr>
            <a:r>
              <a:rPr lang="en-US" sz="2000" dirty="0"/>
              <a:t>Static or behavioral malware analysis tools</a:t>
            </a:r>
          </a:p>
          <a:p>
            <a:pPr marL="342900" indent="-342900">
              <a:buFont typeface="Arial" panose="020B0604020202020204" pitchFamily="34" charset="0"/>
              <a:buChar char="•"/>
            </a:pPr>
            <a:r>
              <a:rPr lang="en-US" sz="2000" dirty="0"/>
              <a:t>General-purpose malware image classification systems</a:t>
            </a:r>
          </a:p>
          <a:p>
            <a:pPr marL="342900" indent="-342900">
              <a:buFont typeface="Arial" panose="020B0604020202020204" pitchFamily="34" charset="0"/>
              <a:buChar char="•"/>
            </a:pPr>
            <a:r>
              <a:rPr lang="en-US" sz="2000" dirty="0"/>
              <a:t>Digital Twins focused on monitoring, not malware detection</a:t>
            </a:r>
          </a:p>
          <a:p>
            <a:r>
              <a:rPr lang="en-US" sz="2000" b="1" dirty="0"/>
              <a:t>Shortcomings / Gaps</a:t>
            </a:r>
            <a:endParaRPr lang="en-US" sz="2000" dirty="0"/>
          </a:p>
          <a:p>
            <a:pPr marL="342900" indent="-342900">
              <a:buFont typeface="Arial" panose="020B0604020202020204" pitchFamily="34" charset="0"/>
              <a:buChar char="•"/>
            </a:pPr>
            <a:r>
              <a:rPr lang="en-US" sz="2000" dirty="0"/>
              <a:t>Signature-based methods fail against polymorphic and zero-day malware</a:t>
            </a:r>
          </a:p>
          <a:p>
            <a:pPr marL="342900" indent="-342900">
              <a:buFont typeface="Arial" panose="020B0604020202020204" pitchFamily="34" charset="0"/>
              <a:buChar char="•"/>
            </a:pPr>
            <a:r>
              <a:rPr lang="en-US" sz="2000" dirty="0"/>
              <a:t>Unsafe to analyze malware on real IIoT hardware</a:t>
            </a:r>
          </a:p>
          <a:p>
            <a:pPr marL="342900" indent="-342900">
              <a:buFont typeface="Arial" panose="020B0604020202020204" pitchFamily="34" charset="0"/>
              <a:buChar char="•"/>
            </a:pPr>
            <a:r>
              <a:rPr lang="en-US" sz="2000" dirty="0"/>
              <a:t>Lack of IIoT-specific datasets and simulation environments</a:t>
            </a:r>
          </a:p>
          <a:p>
            <a:pPr marL="342900" indent="-342900">
              <a:buFont typeface="Arial" panose="020B0604020202020204" pitchFamily="34" charset="0"/>
              <a:buChar char="•"/>
            </a:pPr>
            <a:r>
              <a:rPr lang="en-US" sz="2000" dirty="0"/>
              <a:t>Limited integration of Digital Twins with AI-based malware variant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solidFill>
                  <a:srgbClr val="003366"/>
                </a:solidFill>
              </a:rPr>
              <a:t>Objectives</a:t>
            </a:r>
            <a:br>
              <a:rPr lang="en-US" b="1" dirty="0">
                <a:solidFill>
                  <a:srgbClr val="003366"/>
                </a:solidFill>
              </a:rPr>
            </a:br>
            <a:endParaRPr dirty="0"/>
          </a:p>
        </p:txBody>
      </p:sp>
      <p:sp>
        <p:nvSpPr>
          <p:cNvPr id="5" name="Rectangle 2">
            <a:extLst>
              <a:ext uri="{FF2B5EF4-FFF2-40B4-BE49-F238E27FC236}">
                <a16:creationId xmlns:a16="http://schemas.microsoft.com/office/drawing/2014/main" id="{3DC138E1-556F-B9BE-57DA-2A23022DE8FD}"/>
              </a:ext>
            </a:extLst>
          </p:cNvPr>
          <p:cNvSpPr>
            <a:spLocks noChangeArrowheads="1"/>
          </p:cNvSpPr>
          <p:nvPr/>
        </p:nvSpPr>
        <p:spPr bwMode="auto">
          <a:xfrm>
            <a:off x="457199" y="1046859"/>
            <a:ext cx="836022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To enable safe malware analysis in IIoT environments by developing a software-based Digital Twin</a:t>
            </a:r>
            <a:r>
              <a:rPr kumimoji="0" lang="en-US" altLang="en-US" sz="2000" b="0" i="0" u="none" strike="noStrike" cap="none" normalizeH="0" baseline="0" dirty="0">
                <a:ln>
                  <a:noFill/>
                </a:ln>
                <a:solidFill>
                  <a:schemeClr val="tx1"/>
                </a:solidFill>
                <a:effectLst/>
              </a:rPr>
              <a:t> that emulates devices, protocols (e.g., Modbus, MQTT), and network topologies without risking real hardware.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To address dataset scarcity and class imbalance by applying data enhancement and balancing techniques,</a:t>
            </a:r>
            <a:r>
              <a:rPr kumimoji="0" lang="en-US" altLang="en-US" sz="2000" b="0" i="0" u="none" strike="noStrike" cap="none" normalizeH="0" baseline="0" dirty="0">
                <a:ln>
                  <a:noFill/>
                </a:ln>
                <a:solidFill>
                  <a:schemeClr val="tx1"/>
                </a:solidFill>
                <a:effectLst/>
              </a:rPr>
              <a:t> such as augmentation (e.g., rotation, scaling) and synthetic generation via the Digital Twin, to improve diversity and model generalization.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To reveal structural patterns in executables resilient to obfuscation by converting binary files into grayscale images</a:t>
            </a:r>
            <a:r>
              <a:rPr kumimoji="0" lang="en-US" altLang="en-US" sz="2000" b="0" i="0" u="none" strike="noStrike" cap="none" normalizeH="0" baseline="0" dirty="0">
                <a:ln>
                  <a:noFill/>
                </a:ln>
                <a:solidFill>
                  <a:schemeClr val="tx1"/>
                </a:solidFill>
                <a:effectLst/>
              </a:rPr>
              <a:t> for visual analysis, treating malware families as distinct "textures" using tools like OpenCV.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To detect polymorphic, obfuscated, and unseen malware variants by designing and evaluating intelligent learning-based models,</a:t>
            </a:r>
            <a:r>
              <a:rPr kumimoji="0" lang="en-US" altLang="en-US" sz="2000" b="0" i="0" u="none" strike="noStrike" cap="none" normalizeH="0" baseline="0" dirty="0">
                <a:ln>
                  <a:noFill/>
                </a:ln>
                <a:solidFill>
                  <a:schemeClr val="tx1"/>
                </a:solidFill>
                <a:effectLst/>
              </a:rPr>
              <a:t> such as CNNs in </a:t>
            </a:r>
            <a:r>
              <a:rPr kumimoji="0" lang="en-US" altLang="en-US" sz="2000" b="0" i="0" u="none" strike="noStrike" cap="none" normalizeH="0" baseline="0" dirty="0" err="1">
                <a:ln>
                  <a:noFill/>
                </a:ln>
                <a:solidFill>
                  <a:schemeClr val="tx1"/>
                </a:solidFill>
                <a:effectLst/>
              </a:rPr>
              <a:t>PyTorch</a:t>
            </a:r>
            <a:r>
              <a:rPr kumimoji="0" lang="en-US" altLang="en-US" sz="2000" b="0" i="0" u="none" strike="noStrike" cap="none" normalizeH="0" baseline="0" dirty="0">
                <a:ln>
                  <a:noFill/>
                </a:ln>
                <a:solidFill>
                  <a:schemeClr val="tx1"/>
                </a:solidFill>
                <a:effectLst/>
              </a:rPr>
              <a:t>/TensorFlow, with metrics like accuracy, precision, recall, and F1-score.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To provide user-friendly access to analysis results by building an interactive dashboard</a:t>
            </a:r>
            <a:r>
              <a:rPr kumimoji="0" lang="en-US" altLang="en-US" sz="2000" b="0" i="0" u="none" strike="noStrike" cap="none" normalizeH="0" baseline="0" dirty="0">
                <a:ln>
                  <a:noFill/>
                </a:ln>
                <a:solidFill>
                  <a:schemeClr val="tx1"/>
                </a:solidFill>
                <a:effectLst/>
              </a:rPr>
              <a:t> for visualization, real-time predictions, confidence scores, system monitoring, and explainable AI outputs.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solidFill>
                  <a:srgbClr val="003366"/>
                </a:solidFill>
              </a:rPr>
              <a:t>Complexity of Problem</a:t>
            </a:r>
            <a:br>
              <a:rPr lang="en-US" b="1" dirty="0">
                <a:solidFill>
                  <a:srgbClr val="003366"/>
                </a:solidFill>
              </a:rPr>
            </a:br>
            <a:endParaRPr dirty="0"/>
          </a:p>
        </p:txBody>
      </p:sp>
      <p:sp>
        <p:nvSpPr>
          <p:cNvPr id="3" name="TextBox 2"/>
          <p:cNvSpPr txBox="1"/>
          <p:nvPr/>
        </p:nvSpPr>
        <p:spPr>
          <a:xfrm>
            <a:off x="434567" y="956416"/>
            <a:ext cx="8252233" cy="5016758"/>
          </a:xfrm>
          <a:prstGeom prst="rect">
            <a:avLst/>
          </a:prstGeom>
          <a:noFill/>
        </p:spPr>
        <p:txBody>
          <a:bodyPr wrap="square">
            <a:spAutoFit/>
          </a:bodyPr>
          <a:lstStyle/>
          <a:p>
            <a:r>
              <a:rPr lang="en-US" sz="2000" b="1" dirty="0"/>
              <a:t>The Challenge of High-Fidelity IIoT Simulation (Digital Twin)</a:t>
            </a:r>
            <a:br>
              <a:rPr lang="en-US" sz="2000" b="1" dirty="0"/>
            </a:br>
            <a:endParaRPr lang="en-US" sz="2000" dirty="0"/>
          </a:p>
          <a:p>
            <a:pPr marL="342900" indent="-342900">
              <a:buFont typeface="Arial" panose="020B0604020202020204" pitchFamily="34" charset="0"/>
              <a:buChar char="•"/>
            </a:pPr>
            <a:r>
              <a:rPr lang="en-US" sz="2000" b="1" dirty="0"/>
              <a:t>Beyond Simple Simulation:</a:t>
            </a:r>
            <a:r>
              <a:rPr lang="en-US" sz="2000" dirty="0"/>
              <a:t> We are not merely running a script; we are engineering a </a:t>
            </a:r>
            <a:r>
              <a:rPr lang="en-US" sz="2000" b="1" dirty="0"/>
              <a:t>network-level Digital Twin</a:t>
            </a:r>
            <a:r>
              <a:rPr lang="en-US" sz="2000" dirty="0"/>
              <a:t> that emulates the behavior of specific Industrial IoT (IIoT) components (PLCs, Sensors, Actuators).</a:t>
            </a:r>
          </a:p>
          <a:p>
            <a:pPr marL="342900" indent="-342900">
              <a:buFont typeface="Arial" panose="020B0604020202020204" pitchFamily="34" charset="0"/>
              <a:buChar char="•"/>
            </a:pPr>
            <a:r>
              <a:rPr lang="en-US" sz="2000" b="1" dirty="0"/>
              <a:t>Protocol Complexity:</a:t>
            </a:r>
            <a:r>
              <a:rPr lang="en-US" sz="2000" dirty="0"/>
              <a:t> The system must simulate real-time data flow using industrial-specific protocols (e.g., Modbus, MQTT) rather than standard HTTP traffic. This requires constructing a virtualized topology (using Mininet/Docker) that mirrors the latency and bandwidth constraints of a physical industrial plant.</a:t>
            </a:r>
          </a:p>
          <a:p>
            <a:pPr marL="342900" indent="-342900">
              <a:buFont typeface="Arial" panose="020B0604020202020204" pitchFamily="34" charset="0"/>
              <a:buChar char="•"/>
            </a:pPr>
            <a:r>
              <a:rPr lang="en-US" sz="2000" b="1" dirty="0"/>
              <a:t>The "Air-Gap" Constraint:</a:t>
            </a:r>
            <a:r>
              <a:rPr lang="en-US" sz="2000" dirty="0"/>
              <a:t> Real IIoT systems are critical infrastructure (e.g., power grids). We cannot detonate malware on live hardware. The complexity lies in creating a sandbox that is realistic enough to trick the malware into executing its malicious payload, generating high-fidelity behavioral logs that do not currently exist in public datasets.</a:t>
            </a:r>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A995-A189-F4E9-C7CE-92F762358823}"/>
              </a:ext>
            </a:extLst>
          </p:cNvPr>
          <p:cNvSpPr>
            <a:spLocks noGrp="1"/>
          </p:cNvSpPr>
          <p:nvPr>
            <p:ph type="title"/>
          </p:nvPr>
        </p:nvSpPr>
        <p:spPr/>
        <p:txBody>
          <a:bodyPr>
            <a:normAutofit fontScale="90000"/>
          </a:bodyPr>
          <a:lstStyle/>
          <a:p>
            <a:pPr algn="l"/>
            <a:r>
              <a:rPr lang="en-US" b="1" dirty="0">
                <a:solidFill>
                  <a:srgbClr val="003366"/>
                </a:solidFill>
              </a:rPr>
              <a:t>Complexity of Problem</a:t>
            </a:r>
            <a:br>
              <a:rPr lang="en-US" b="1" dirty="0">
                <a:solidFill>
                  <a:srgbClr val="003366"/>
                </a:solidFill>
              </a:rPr>
            </a:br>
            <a:r>
              <a:rPr lang="en-US" sz="1300" b="1" dirty="0">
                <a:solidFill>
                  <a:schemeClr val="bg1"/>
                </a:solidFill>
              </a:rPr>
              <a:t>ss</a:t>
            </a:r>
            <a:br>
              <a:rPr lang="en-US" sz="4000" b="1" dirty="0">
                <a:solidFill>
                  <a:srgbClr val="003366"/>
                </a:solidFill>
              </a:rPr>
            </a:br>
            <a:r>
              <a:rPr lang="en-US" sz="2200" b="1" dirty="0">
                <a:latin typeface="+mn-lt"/>
              </a:rPr>
              <a:t>The Challenge of Visual Malware Forensics</a:t>
            </a:r>
            <a:endParaRPr lang="en-AU" sz="4000" b="1" dirty="0">
              <a:latin typeface="+mn-lt"/>
            </a:endParaRPr>
          </a:p>
        </p:txBody>
      </p:sp>
      <p:sp>
        <p:nvSpPr>
          <p:cNvPr id="6" name="Rectangle 3">
            <a:extLst>
              <a:ext uri="{FF2B5EF4-FFF2-40B4-BE49-F238E27FC236}">
                <a16:creationId xmlns:a16="http://schemas.microsoft.com/office/drawing/2014/main" id="{93DA4754-C54A-32E1-4609-04778E384A21}"/>
              </a:ext>
            </a:extLst>
          </p:cNvPr>
          <p:cNvSpPr>
            <a:spLocks noGrp="1" noChangeArrowheads="1"/>
          </p:cNvSpPr>
          <p:nvPr>
            <p:ph idx="1"/>
          </p:nvPr>
        </p:nvSpPr>
        <p:spPr bwMode="auto">
          <a:xfrm>
            <a:off x="457200" y="1660623"/>
            <a:ext cx="840377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000" b="1" i="0" u="none" strike="noStrike" cap="none" normalizeH="0" baseline="0" dirty="0">
                <a:ln>
                  <a:noFill/>
                </a:ln>
                <a:solidFill>
                  <a:schemeClr val="tx1"/>
                </a:solidFill>
                <a:effectLst/>
              </a:rPr>
              <a:t>Obfuscation &amp; Polymorphism:</a:t>
            </a:r>
            <a:r>
              <a:rPr kumimoji="0" lang="en-US" altLang="en-US" sz="2000" b="0" i="0" u="none" strike="noStrike" cap="none" normalizeH="0" baseline="0" dirty="0">
                <a:ln>
                  <a:noFill/>
                </a:ln>
                <a:solidFill>
                  <a:schemeClr val="tx1"/>
                </a:solidFill>
                <a:effectLst/>
              </a:rPr>
              <a:t> Attackers use packers and encryption to change the code signature of malware, rendering traditional antivirus useless. The complexity here is implementing </a:t>
            </a:r>
            <a:r>
              <a:rPr kumimoji="0" lang="en-US" altLang="en-US" sz="2000" b="1" i="0" u="none" strike="noStrike" cap="none" normalizeH="0" baseline="0" dirty="0">
                <a:ln>
                  <a:noFill/>
                </a:ln>
                <a:solidFill>
                  <a:schemeClr val="tx1"/>
                </a:solidFill>
                <a:effectLst/>
              </a:rPr>
              <a:t>Visual Fingerprinting</a:t>
            </a:r>
            <a:r>
              <a:rPr lang="en-US" altLang="en-US" sz="2000" dirty="0"/>
              <a:t>, </a:t>
            </a:r>
            <a:r>
              <a:rPr kumimoji="0" lang="en-US" altLang="en-US" sz="2000" b="0" i="0" u="none" strike="noStrike" cap="none" normalizeH="0" baseline="0" dirty="0">
                <a:ln>
                  <a:noFill/>
                </a:ln>
                <a:solidFill>
                  <a:schemeClr val="tx1"/>
                </a:solidFill>
                <a:effectLst/>
              </a:rPr>
              <a:t>transforming binaries into 2D grayscale matrices.</a:t>
            </a:r>
          </a:p>
          <a:p>
            <a:pPr defTabSz="914400" eaLnBrk="0" fontAlgn="base" hangingPunct="0">
              <a:spcBef>
                <a:spcPct val="0"/>
              </a:spcBef>
              <a:spcAft>
                <a:spcPct val="0"/>
              </a:spcAft>
            </a:pPr>
            <a:r>
              <a:rPr kumimoji="0" lang="en-US" altLang="en-US" sz="2000" b="1" i="0" u="none" strike="noStrike" cap="none" normalizeH="0" baseline="0" dirty="0">
                <a:ln>
                  <a:noFill/>
                </a:ln>
                <a:solidFill>
                  <a:schemeClr val="tx1"/>
                </a:solidFill>
                <a:effectLst/>
              </a:rPr>
              <a:t>Texture Analysis:</a:t>
            </a:r>
            <a:r>
              <a:rPr kumimoji="0" lang="en-US" altLang="en-US" sz="2000" b="0" i="0" u="none" strike="noStrike" cap="none" normalizeH="0" baseline="0" dirty="0">
                <a:ln>
                  <a:noFill/>
                </a:ln>
                <a:solidFill>
                  <a:schemeClr val="tx1"/>
                </a:solidFill>
                <a:effectLst/>
              </a:rPr>
              <a:t> We are solving a pattern recognition problem where we treat malware families as "textures." This involves complex preprocessing to ensure that minor code shifts (polymorphism) result in visually similar images, allowing our AI to detect variants it has never seen before.</a:t>
            </a:r>
          </a:p>
        </p:txBody>
      </p:sp>
    </p:spTree>
    <p:extLst>
      <p:ext uri="{BB962C8B-B14F-4D97-AF65-F5344CB8AC3E}">
        <p14:creationId xmlns:p14="http://schemas.microsoft.com/office/powerpoint/2010/main" val="1444790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5AAE-EC60-5D1D-B17D-597A963EA850}"/>
              </a:ext>
            </a:extLst>
          </p:cNvPr>
          <p:cNvSpPr>
            <a:spLocks noGrp="1"/>
          </p:cNvSpPr>
          <p:nvPr>
            <p:ph type="title"/>
          </p:nvPr>
        </p:nvSpPr>
        <p:spPr/>
        <p:txBody>
          <a:bodyPr>
            <a:normAutofit/>
          </a:bodyPr>
          <a:lstStyle/>
          <a:p>
            <a:pPr algn="l"/>
            <a:r>
              <a:rPr lang="en-US" sz="4000" b="1" dirty="0">
                <a:solidFill>
                  <a:schemeClr val="tx2"/>
                </a:solidFill>
              </a:rPr>
              <a:t>Justification</a:t>
            </a:r>
            <a:endParaRPr lang="en-AU" sz="4000" b="1" dirty="0">
              <a:solidFill>
                <a:schemeClr val="tx2"/>
              </a:solidFill>
            </a:endParaRPr>
          </a:p>
        </p:txBody>
      </p:sp>
      <p:sp>
        <p:nvSpPr>
          <p:cNvPr id="3" name="Content Placeholder 2">
            <a:extLst>
              <a:ext uri="{FF2B5EF4-FFF2-40B4-BE49-F238E27FC236}">
                <a16:creationId xmlns:a16="http://schemas.microsoft.com/office/drawing/2014/main" id="{533884B8-6ACF-F01B-E6B2-6D831BFC86A8}"/>
              </a:ext>
            </a:extLst>
          </p:cNvPr>
          <p:cNvSpPr>
            <a:spLocks noGrp="1"/>
          </p:cNvSpPr>
          <p:nvPr>
            <p:ph idx="1"/>
          </p:nvPr>
        </p:nvSpPr>
        <p:spPr>
          <a:xfrm>
            <a:off x="457200" y="1317172"/>
            <a:ext cx="8229600" cy="4525963"/>
          </a:xfrm>
        </p:spPr>
        <p:txBody>
          <a:bodyPr>
            <a:normAutofit/>
          </a:bodyPr>
          <a:lstStyle/>
          <a:p>
            <a:pPr marL="0" indent="0">
              <a:buNone/>
            </a:pPr>
            <a:r>
              <a:rPr lang="en-US" sz="2000" b="1" dirty="0"/>
              <a:t>Why a Digital Twin is Strictly Necessary</a:t>
            </a:r>
            <a:br>
              <a:rPr lang="en-US" sz="2000" b="1" dirty="0"/>
            </a:br>
            <a:endParaRPr lang="en-US" sz="2000" dirty="0"/>
          </a:p>
          <a:p>
            <a:endParaRPr lang="en-AU" dirty="0"/>
          </a:p>
        </p:txBody>
      </p:sp>
      <p:sp>
        <p:nvSpPr>
          <p:cNvPr id="5" name="Rectangle 2">
            <a:extLst>
              <a:ext uri="{FF2B5EF4-FFF2-40B4-BE49-F238E27FC236}">
                <a16:creationId xmlns:a16="http://schemas.microsoft.com/office/drawing/2014/main" id="{196FECA8-1441-AF84-1B92-C4F81A17086C}"/>
              </a:ext>
            </a:extLst>
          </p:cNvPr>
          <p:cNvSpPr>
            <a:spLocks noChangeArrowheads="1"/>
          </p:cNvSpPr>
          <p:nvPr/>
        </p:nvSpPr>
        <p:spPr bwMode="auto">
          <a:xfrm>
            <a:off x="457200" y="1853629"/>
            <a:ext cx="843642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Complexity:</a:t>
            </a:r>
            <a:r>
              <a:rPr kumimoji="0" lang="en-US" altLang="en-US" sz="2000" b="0" i="0" u="none" strike="noStrike" cap="none" normalizeH="0" baseline="0" dirty="0">
                <a:ln>
                  <a:noFill/>
                </a:ln>
                <a:solidFill>
                  <a:schemeClr val="tx1"/>
                </a:solidFill>
                <a:effectLst/>
              </a:rPr>
              <a:t> The Digital Twin will emulate specific industrial protocols (Modbus/TCP, MQTT) and device behaviors (PLCs, Sensors) using </a:t>
            </a:r>
            <a:r>
              <a:rPr kumimoji="0" lang="en-US" altLang="en-US" sz="2000" b="1" i="0" u="none" strike="noStrike" cap="none" normalizeH="0" baseline="0" dirty="0">
                <a:ln>
                  <a:noFill/>
                </a:ln>
                <a:solidFill>
                  <a:schemeClr val="tx1"/>
                </a:solidFill>
                <a:effectLst/>
              </a:rPr>
              <a:t>Mininet and Docker</a:t>
            </a:r>
            <a:r>
              <a:rPr kumimoji="0" lang="en-US" altLang="en-US" sz="2000" b="0" i="0" u="none" strike="noStrike" cap="none" normalizeH="0" baseline="0" dirty="0">
                <a:ln>
                  <a:noFill/>
                </a:ln>
                <a:solidFill>
                  <a:schemeClr val="tx1"/>
                </a:solidFill>
                <a:effectLst/>
              </a:rPr>
              <a:t>. This goes beyond simple scripting; it requires constructing a virtual network topology that mirrors real-world latency and bandwidth constraints.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Addressing the "Runtime" Gap:</a:t>
            </a:r>
            <a:r>
              <a:rPr kumimoji="0" lang="en-US" altLang="en-US" sz="2000" b="0" i="0" u="none" strike="noStrike" cap="none" normalizeH="0" baseline="0" dirty="0">
                <a:ln>
                  <a:noFill/>
                </a:ln>
                <a:solidFill>
                  <a:schemeClr val="tx1"/>
                </a:solidFill>
                <a:effectLst/>
              </a:rPr>
              <a:t> Standard image-based detection is static, it does not see "what the malware does" (runtime behavior). Our Digital Twin bridges this gap. By detonating malware within the isolated Twin, we can capture </a:t>
            </a:r>
            <a:r>
              <a:rPr kumimoji="0" lang="en-US" altLang="en-US" sz="2000" b="1" i="0" u="none" strike="noStrike" cap="none" normalizeH="0" baseline="0" dirty="0">
                <a:ln>
                  <a:noFill/>
                </a:ln>
                <a:solidFill>
                  <a:schemeClr val="tx1"/>
                </a:solidFill>
                <a:effectLst/>
              </a:rPr>
              <a:t>live traffic logs</a:t>
            </a:r>
            <a:r>
              <a:rPr kumimoji="0" lang="en-US" altLang="en-US" sz="2000" b="0" i="0" u="none" strike="noStrike" cap="none" normalizeH="0" baseline="0" dirty="0">
                <a:ln>
                  <a:noFill/>
                </a:ln>
                <a:solidFill>
                  <a:schemeClr val="tx1"/>
                </a:solidFill>
                <a:effectLst/>
              </a:rPr>
              <a:t> and network behavior safely. This allows us to correlate the </a:t>
            </a:r>
            <a:r>
              <a:rPr kumimoji="0" lang="en-US" altLang="en-US" sz="2000" b="0" i="1" u="none" strike="noStrike" cap="none" normalizeH="0" baseline="0" dirty="0">
                <a:ln>
                  <a:noFill/>
                </a:ln>
                <a:solidFill>
                  <a:schemeClr val="tx1"/>
                </a:solidFill>
                <a:effectLst/>
              </a:rPr>
              <a:t>visual</a:t>
            </a:r>
            <a:r>
              <a:rPr kumimoji="0" lang="en-US" altLang="en-US" sz="2000" b="0" i="0" u="none" strike="noStrike" cap="none" normalizeH="0" baseline="0" dirty="0">
                <a:ln>
                  <a:noFill/>
                </a:ln>
                <a:solidFill>
                  <a:schemeClr val="tx1"/>
                </a:solidFill>
                <a:effectLst/>
              </a:rPr>
              <a:t> structure of the malware (static) with its </a:t>
            </a:r>
            <a:r>
              <a:rPr kumimoji="0" lang="en-US" altLang="en-US" sz="2000" b="0" i="1" u="none" strike="noStrike" cap="none" normalizeH="0" baseline="0" dirty="0">
                <a:ln>
                  <a:noFill/>
                </a:ln>
                <a:solidFill>
                  <a:schemeClr val="tx1"/>
                </a:solidFill>
                <a:effectLst/>
              </a:rPr>
              <a:t>network impact</a:t>
            </a:r>
            <a:r>
              <a:rPr kumimoji="0" lang="en-US" altLang="en-US" sz="2000" b="0" i="0" u="none" strike="noStrike" cap="none" normalizeH="0" baseline="0" dirty="0">
                <a:ln>
                  <a:noFill/>
                </a:ln>
                <a:solidFill>
                  <a:schemeClr val="tx1"/>
                </a:solidFill>
                <a:effectLst/>
              </a:rPr>
              <a:t> (dynamic), answering the critique that image analysis alone is insufficient.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Safety Criticality:</a:t>
            </a:r>
            <a:r>
              <a:rPr kumimoji="0" lang="en-US" altLang="en-US" sz="2000" b="0" i="0" u="none" strike="noStrike" cap="none" normalizeH="0" baseline="0" dirty="0">
                <a:ln>
                  <a:noFill/>
                </a:ln>
                <a:solidFill>
                  <a:schemeClr val="tx1"/>
                </a:solidFill>
                <a:effectLst/>
              </a:rPr>
              <a:t> In Industrial IoT (IIoT), we cannot analyze malware on physical infrastructure (e.g., power grids or factory arms) due to safety risks. The Digital Twin provides the only viable "sandbox" to generate data for dangerous, evolving malware variants without physical risk</a:t>
            </a:r>
          </a:p>
        </p:txBody>
      </p:sp>
    </p:spTree>
    <p:extLst>
      <p:ext uri="{BB962C8B-B14F-4D97-AF65-F5344CB8AC3E}">
        <p14:creationId xmlns:p14="http://schemas.microsoft.com/office/powerpoint/2010/main" val="171785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70E1-441E-506C-371B-0766EADAA782}"/>
              </a:ext>
            </a:extLst>
          </p:cNvPr>
          <p:cNvSpPr>
            <a:spLocks noGrp="1"/>
          </p:cNvSpPr>
          <p:nvPr>
            <p:ph type="title"/>
          </p:nvPr>
        </p:nvSpPr>
        <p:spPr/>
        <p:txBody>
          <a:bodyPr>
            <a:normAutofit/>
          </a:bodyPr>
          <a:lstStyle/>
          <a:p>
            <a:pPr algn="l"/>
            <a:r>
              <a:rPr lang="en-US" sz="4000" b="1" dirty="0">
                <a:solidFill>
                  <a:schemeClr val="tx2"/>
                </a:solidFill>
              </a:rPr>
              <a:t>Justification</a:t>
            </a:r>
            <a:endParaRPr lang="en-AU" sz="4000" dirty="0"/>
          </a:p>
        </p:txBody>
      </p:sp>
      <p:sp>
        <p:nvSpPr>
          <p:cNvPr id="3" name="Content Placeholder 2">
            <a:extLst>
              <a:ext uri="{FF2B5EF4-FFF2-40B4-BE49-F238E27FC236}">
                <a16:creationId xmlns:a16="http://schemas.microsoft.com/office/drawing/2014/main" id="{EF5FC1D3-ECE9-BB25-62ED-B17A38C14008}"/>
              </a:ext>
            </a:extLst>
          </p:cNvPr>
          <p:cNvSpPr>
            <a:spLocks noGrp="1"/>
          </p:cNvSpPr>
          <p:nvPr>
            <p:ph idx="1"/>
          </p:nvPr>
        </p:nvSpPr>
        <p:spPr>
          <a:xfrm>
            <a:off x="457200" y="1164772"/>
            <a:ext cx="8229600" cy="4961392"/>
          </a:xfrm>
        </p:spPr>
        <p:txBody>
          <a:bodyPr>
            <a:normAutofit fontScale="55000" lnSpcReduction="20000"/>
          </a:bodyPr>
          <a:lstStyle/>
          <a:p>
            <a:pPr marL="0" indent="0">
              <a:buNone/>
            </a:pPr>
            <a:r>
              <a:rPr lang="en-US" sz="3600" b="1" dirty="0"/>
              <a:t>Why Binary-to-Image Conversion is Superior</a:t>
            </a:r>
            <a:br>
              <a:rPr lang="en-US" sz="4200" b="1" dirty="0"/>
            </a:br>
            <a:endParaRPr lang="en-US" sz="4200" dirty="0"/>
          </a:p>
          <a:p>
            <a:r>
              <a:rPr lang="en-US" sz="3600" b="1" dirty="0"/>
              <a:t>Overcoming Obfuscation:</a:t>
            </a:r>
            <a:r>
              <a:rPr lang="en-US" sz="3600" dirty="0"/>
              <a:t> Traditional signature-based detection fails when attackers change a single bit of code (polymorphism). However, the </a:t>
            </a:r>
            <a:r>
              <a:rPr lang="en-US" sz="3600" i="1" dirty="0"/>
              <a:t>structural</a:t>
            </a:r>
            <a:r>
              <a:rPr lang="en-US" sz="3600" dirty="0"/>
              <a:t> layout of malware, its "texture“, often remains consistent even when obfuscated. By converting binaries to grayscale images, we transform the cybersecurity problem into a pattern recognition problem.</a:t>
            </a:r>
          </a:p>
          <a:p>
            <a:r>
              <a:rPr lang="en-US" sz="3600" b="1" dirty="0"/>
              <a:t>Reference Concept:</a:t>
            </a:r>
            <a:r>
              <a:rPr lang="en-US" sz="3600" dirty="0"/>
              <a:t> This approach builds upon the foundational work seen in the </a:t>
            </a:r>
            <a:r>
              <a:rPr lang="en-US" sz="3600" b="1" dirty="0" err="1"/>
              <a:t>Malimg</a:t>
            </a:r>
            <a:r>
              <a:rPr lang="en-US" sz="3600" b="1" dirty="0"/>
              <a:t> Dataset</a:t>
            </a:r>
            <a:r>
              <a:rPr lang="en-US" sz="3600" dirty="0"/>
              <a:t> research (Nataraj et al.), which demonstrated that malware families exhibit distinct visual textures. Our project advances this by applying it specifically to resource-constrained IIoT binaries, which are often smaller and more structured than general PC malware.</a:t>
            </a:r>
          </a:p>
          <a:p>
            <a:r>
              <a:rPr lang="en-US" sz="3600" b="1" dirty="0"/>
              <a:t>Efficiency:</a:t>
            </a:r>
            <a:r>
              <a:rPr lang="en-US" sz="3600" dirty="0"/>
              <a:t> Visual analysis via CNNs (Convolutional Neural Networks) is computationally faster for inference on edge devices compared to running heavy, real-time behavioral sandboxes for every single file.</a:t>
            </a:r>
            <a:endParaRPr lang="en-AU" sz="3600" dirty="0"/>
          </a:p>
        </p:txBody>
      </p:sp>
    </p:spTree>
    <p:extLst>
      <p:ext uri="{BB962C8B-B14F-4D97-AF65-F5344CB8AC3E}">
        <p14:creationId xmlns:p14="http://schemas.microsoft.com/office/powerpoint/2010/main" val="1687268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E223C-A368-B64F-157C-706D80FFD2FB}"/>
              </a:ext>
            </a:extLst>
          </p:cNvPr>
          <p:cNvSpPr>
            <a:spLocks noGrp="1"/>
          </p:cNvSpPr>
          <p:nvPr>
            <p:ph type="title"/>
          </p:nvPr>
        </p:nvSpPr>
        <p:spPr/>
        <p:txBody>
          <a:bodyPr>
            <a:noAutofit/>
          </a:bodyPr>
          <a:lstStyle/>
          <a:p>
            <a:pPr algn="l"/>
            <a:r>
              <a:rPr lang="en-US" sz="4000" b="1" dirty="0">
                <a:solidFill>
                  <a:schemeClr val="tx2"/>
                </a:solidFill>
              </a:rPr>
              <a:t>Addressing Limitations of Visual-Only Detection</a:t>
            </a:r>
            <a:endParaRPr lang="en-AU" sz="4000" b="1" dirty="0">
              <a:solidFill>
                <a:schemeClr val="tx2"/>
              </a:solidFill>
            </a:endParaRPr>
          </a:p>
        </p:txBody>
      </p:sp>
      <p:sp>
        <p:nvSpPr>
          <p:cNvPr id="4" name="Rectangle 1">
            <a:extLst>
              <a:ext uri="{FF2B5EF4-FFF2-40B4-BE49-F238E27FC236}">
                <a16:creationId xmlns:a16="http://schemas.microsoft.com/office/drawing/2014/main" id="{60AF4F28-7515-1604-E4A9-CD28BD295BCB}"/>
              </a:ext>
            </a:extLst>
          </p:cNvPr>
          <p:cNvSpPr>
            <a:spLocks noGrp="1" noChangeArrowheads="1"/>
          </p:cNvSpPr>
          <p:nvPr>
            <p:ph idx="1"/>
          </p:nvPr>
        </p:nvSpPr>
        <p:spPr bwMode="auto">
          <a:xfrm>
            <a:off x="457199" y="1643303"/>
            <a:ext cx="804454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Critiques often note that visual analysis can be fooled by packed/encrypted binaries or misses runtime behavior. </a:t>
            </a:r>
            <a:r>
              <a:rPr kumimoji="0" lang="en-US" altLang="en-US" sz="2000" b="1" i="0" u="none" strike="noStrike" cap="none" normalizeH="0" baseline="0" dirty="0" err="1">
                <a:ln>
                  <a:noFill/>
                </a:ln>
                <a:solidFill>
                  <a:schemeClr val="tx1"/>
                </a:solidFill>
                <a:effectLst/>
              </a:rPr>
              <a:t>MalTwin</a:t>
            </a:r>
            <a:r>
              <a:rPr kumimoji="0" lang="en-US" altLang="en-US" sz="2000" b="1" i="0" u="none" strike="noStrike" cap="none" normalizeH="0" baseline="0" dirty="0">
                <a:ln>
                  <a:noFill/>
                </a:ln>
                <a:solidFill>
                  <a:schemeClr val="tx1"/>
                </a:solidFill>
                <a:effectLst/>
              </a:rPr>
              <a:t> mitigates this by:</a:t>
            </a:r>
            <a:br>
              <a:rPr kumimoji="0" lang="en-US" altLang="en-US" sz="2000" b="1"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rPr>
              <a:t>Hybrid Validation:</a:t>
            </a:r>
            <a:r>
              <a:rPr kumimoji="0" lang="en-US" altLang="en-US" sz="2000" b="0" i="0" u="none" strike="noStrike" cap="none" normalizeH="0" baseline="0" dirty="0">
                <a:ln>
                  <a:noFill/>
                </a:ln>
                <a:solidFill>
                  <a:schemeClr val="tx1"/>
                </a:solidFill>
                <a:effectLst/>
              </a:rPr>
              <a:t> The Digital Twin allows us to observe the </a:t>
            </a:r>
            <a:r>
              <a:rPr kumimoji="0" lang="en-US" altLang="en-US" sz="2000" b="0" i="1" u="none" strike="noStrike" cap="none" normalizeH="0" baseline="0" dirty="0">
                <a:ln>
                  <a:noFill/>
                </a:ln>
                <a:solidFill>
                  <a:schemeClr val="tx1"/>
                </a:solidFill>
                <a:effectLst/>
              </a:rPr>
              <a:t>network effect</a:t>
            </a:r>
            <a:r>
              <a:rPr kumimoji="0" lang="en-US" altLang="en-US" sz="2000" b="0" i="0" u="none" strike="noStrike" cap="none" normalizeH="0" baseline="0" dirty="0">
                <a:ln>
                  <a:noFill/>
                </a:ln>
                <a:solidFill>
                  <a:schemeClr val="tx1"/>
                </a:solidFill>
                <a:effectLst/>
              </a:rPr>
              <a:t> (logs) alongside the visual scan, providing a secondary layer of validation.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rPr>
              <a:t>Visualizing Entropy:</a:t>
            </a:r>
            <a:r>
              <a:rPr kumimoji="0" lang="en-US" altLang="en-US" sz="2000" b="0" i="0" u="none" strike="noStrike" cap="none" normalizeH="0" baseline="0" dirty="0">
                <a:ln>
                  <a:noFill/>
                </a:ln>
                <a:solidFill>
                  <a:schemeClr val="tx1"/>
                </a:solidFill>
                <a:effectLst/>
              </a:rPr>
              <a:t> High entropy (randomness) in an image usually indicates encryption/packing. Our visual analysis can detect these "noisy" blocks as specific textures, flagging them as suspicious even if the specific malware signature is hidden.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rPr>
              <a:t>Data Balancing:</a:t>
            </a:r>
            <a:r>
              <a:rPr kumimoji="0" lang="en-US" altLang="en-US" sz="2000" b="0" i="0" u="none" strike="noStrike" cap="none" normalizeH="0" baseline="0" dirty="0">
                <a:ln>
                  <a:noFill/>
                </a:ln>
                <a:solidFill>
                  <a:schemeClr val="tx1"/>
                </a:solidFill>
                <a:effectLst/>
              </a:rPr>
              <a:t> We use data enhancement techniques to ensure our model learns robust features, preventing it from memorizing simple, adversarial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21322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F6469-EB5A-496C-E1C8-EFDED3036303}"/>
              </a:ext>
            </a:extLst>
          </p:cNvPr>
          <p:cNvSpPr>
            <a:spLocks noGrp="1"/>
          </p:cNvSpPr>
          <p:nvPr>
            <p:ph type="title"/>
          </p:nvPr>
        </p:nvSpPr>
        <p:spPr/>
        <p:txBody>
          <a:bodyPr>
            <a:normAutofit/>
          </a:bodyPr>
          <a:lstStyle/>
          <a:p>
            <a:pPr algn="l"/>
            <a:r>
              <a:rPr lang="en-US" sz="4000" b="1" dirty="0">
                <a:solidFill>
                  <a:schemeClr val="tx2"/>
                </a:solidFill>
              </a:rPr>
              <a:t>Datasets &amp; Limitations</a:t>
            </a:r>
            <a:endParaRPr lang="en-AU" sz="4000" b="1" dirty="0">
              <a:solidFill>
                <a:schemeClr val="tx2"/>
              </a:solidFill>
            </a:endParaRPr>
          </a:p>
        </p:txBody>
      </p:sp>
      <p:sp>
        <p:nvSpPr>
          <p:cNvPr id="3" name="Content Placeholder 2">
            <a:extLst>
              <a:ext uri="{FF2B5EF4-FFF2-40B4-BE49-F238E27FC236}">
                <a16:creationId xmlns:a16="http://schemas.microsoft.com/office/drawing/2014/main" id="{FBF9E6FC-4EA9-8905-76E4-40D589914F84}"/>
              </a:ext>
            </a:extLst>
          </p:cNvPr>
          <p:cNvSpPr>
            <a:spLocks noGrp="1"/>
          </p:cNvSpPr>
          <p:nvPr>
            <p:ph idx="1"/>
          </p:nvPr>
        </p:nvSpPr>
        <p:spPr>
          <a:xfrm>
            <a:off x="457200" y="1284514"/>
            <a:ext cx="8229600" cy="5298848"/>
          </a:xfrm>
        </p:spPr>
        <p:txBody>
          <a:bodyPr>
            <a:normAutofit fontScale="32500" lnSpcReduction="20000"/>
          </a:bodyPr>
          <a:lstStyle/>
          <a:p>
            <a:pPr marL="0" indent="0">
              <a:buNone/>
            </a:pPr>
            <a:r>
              <a:rPr lang="en-AU" sz="6200" b="1" dirty="0"/>
              <a:t>Datasets Used</a:t>
            </a:r>
          </a:p>
          <a:p>
            <a:r>
              <a:rPr lang="en-AU" sz="6200" b="1" dirty="0" err="1"/>
              <a:t>Malimg</a:t>
            </a:r>
            <a:r>
              <a:rPr lang="en-AU" sz="6200" b="1" dirty="0"/>
              <a:t> Dataset</a:t>
            </a:r>
            <a:r>
              <a:rPr lang="en-AU" sz="6200" dirty="0"/>
              <a:t> – Benchmark malware image dataset used for visual malware classification</a:t>
            </a:r>
          </a:p>
          <a:p>
            <a:r>
              <a:rPr lang="en-AU" sz="6200" b="1" dirty="0"/>
              <a:t>IoT-23 Dataset</a:t>
            </a:r>
            <a:r>
              <a:rPr lang="en-AU" sz="6200" dirty="0"/>
              <a:t> – Realistic IoT network traffic for benign and malicious </a:t>
            </a:r>
            <a:r>
              <a:rPr lang="en-AU" sz="6200" dirty="0" err="1"/>
              <a:t>behavior</a:t>
            </a:r>
            <a:r>
              <a:rPr lang="en-AU" sz="6200" dirty="0"/>
              <a:t> analysis</a:t>
            </a:r>
          </a:p>
          <a:p>
            <a:r>
              <a:rPr lang="en-AU" sz="6200" b="1" dirty="0"/>
              <a:t>Digital Twin–Generated Data</a:t>
            </a:r>
            <a:r>
              <a:rPr lang="en-AU" sz="6200" dirty="0"/>
              <a:t> – Synthetic IIoT traffic created using Modbus/MQTT simulation</a:t>
            </a:r>
          </a:p>
          <a:p>
            <a:pPr marL="0" indent="0">
              <a:buNone/>
            </a:pPr>
            <a:br>
              <a:rPr lang="en-AU" sz="6200" b="1" dirty="0"/>
            </a:br>
            <a:r>
              <a:rPr lang="en-AU" sz="6200" b="1" dirty="0"/>
              <a:t>Limitations of Existing Datasets</a:t>
            </a:r>
          </a:p>
          <a:p>
            <a:r>
              <a:rPr lang="en-AU" sz="6200" dirty="0"/>
              <a:t>Public datasets focus mainly on </a:t>
            </a:r>
            <a:r>
              <a:rPr lang="en-AU" sz="6200" b="1" dirty="0"/>
              <a:t>IT/PC malware</a:t>
            </a:r>
            <a:r>
              <a:rPr lang="en-AU" sz="6200" dirty="0"/>
              <a:t>, not Industrial IoT firmware</a:t>
            </a:r>
          </a:p>
          <a:p>
            <a:r>
              <a:rPr lang="en-AU" sz="6200" b="1" dirty="0"/>
              <a:t>Lack of industrial protocol–specific malware</a:t>
            </a:r>
            <a:r>
              <a:rPr lang="en-AU" sz="6200" dirty="0"/>
              <a:t> (e.g., PLC/Modbus attacks)</a:t>
            </a:r>
          </a:p>
          <a:p>
            <a:r>
              <a:rPr lang="en-AU" sz="6200" b="1" dirty="0"/>
              <a:t>Class imbalance</a:t>
            </a:r>
            <a:r>
              <a:rPr lang="en-AU" sz="6200" dirty="0"/>
              <a:t> across malware families</a:t>
            </a:r>
          </a:p>
          <a:p>
            <a:r>
              <a:rPr lang="en-AU" sz="6200" dirty="0"/>
              <a:t>No </a:t>
            </a:r>
            <a:r>
              <a:rPr lang="en-AU" sz="6200" b="1" dirty="0"/>
              <a:t>paired static (binary) and runtime (</a:t>
            </a:r>
            <a:r>
              <a:rPr lang="en-AU" sz="6200" b="1" dirty="0" err="1"/>
              <a:t>behavioral</a:t>
            </a:r>
            <a:r>
              <a:rPr lang="en-AU" sz="6200" b="1" dirty="0"/>
              <a:t>) data</a:t>
            </a:r>
            <a:endParaRPr lang="en-AU" sz="6200" dirty="0"/>
          </a:p>
          <a:p>
            <a:pPr marL="0" indent="0">
              <a:buNone/>
            </a:pPr>
            <a:br>
              <a:rPr lang="en-AU" sz="6200" b="1" dirty="0"/>
            </a:br>
            <a:r>
              <a:rPr lang="en-AU" sz="6200" b="1" dirty="0"/>
              <a:t>How </a:t>
            </a:r>
            <a:r>
              <a:rPr lang="en-AU" sz="6200" b="1" dirty="0" err="1"/>
              <a:t>MalTwin</a:t>
            </a:r>
            <a:r>
              <a:rPr lang="en-AU" sz="6200" b="1" dirty="0"/>
              <a:t> Addresses This</a:t>
            </a:r>
          </a:p>
          <a:p>
            <a:r>
              <a:rPr lang="en-AU" sz="6200" dirty="0"/>
              <a:t>Generates </a:t>
            </a:r>
            <a:r>
              <a:rPr lang="en-AU" sz="6200" b="1" dirty="0"/>
              <a:t>safe, IIoT-specific infected traffic</a:t>
            </a:r>
            <a:r>
              <a:rPr lang="en-AU" sz="6200" dirty="0"/>
              <a:t> via Digital Twin</a:t>
            </a:r>
          </a:p>
          <a:p>
            <a:r>
              <a:rPr lang="en-AU" sz="6200" dirty="0"/>
              <a:t>Applies </a:t>
            </a:r>
            <a:r>
              <a:rPr lang="en-AU" sz="6200" b="1" dirty="0"/>
              <a:t>data augmentation</a:t>
            </a:r>
            <a:r>
              <a:rPr lang="en-AU" sz="6200" dirty="0"/>
              <a:t> to balance malware classes</a:t>
            </a:r>
          </a:p>
          <a:p>
            <a:r>
              <a:rPr lang="en-AU" sz="6200" dirty="0"/>
              <a:t>Combines </a:t>
            </a:r>
            <a:r>
              <a:rPr lang="en-AU" sz="6200" b="1" dirty="0"/>
              <a:t>static visual features + dynamic network </a:t>
            </a:r>
            <a:r>
              <a:rPr lang="en-AU" sz="6200" b="1" dirty="0" err="1"/>
              <a:t>behavior</a:t>
            </a:r>
            <a:endParaRPr lang="en-AU" sz="6200" dirty="0"/>
          </a:p>
          <a:p>
            <a:endParaRPr lang="en-AU" dirty="0"/>
          </a:p>
        </p:txBody>
      </p:sp>
    </p:spTree>
    <p:extLst>
      <p:ext uri="{BB962C8B-B14F-4D97-AF65-F5344CB8AC3E}">
        <p14:creationId xmlns:p14="http://schemas.microsoft.com/office/powerpoint/2010/main" val="2731757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598"/>
            <a:ext cx="8229600" cy="1143000"/>
          </a:xfrm>
        </p:spPr>
        <p:txBody>
          <a:bodyPr>
            <a:normAutofit fontScale="90000"/>
          </a:bodyPr>
          <a:lstStyle/>
          <a:p>
            <a:pPr algn="l"/>
            <a:r>
              <a:rPr lang="en-US" b="1" dirty="0">
                <a:solidFill>
                  <a:srgbClr val="003366"/>
                </a:solidFill>
              </a:rPr>
              <a:t>Methodology</a:t>
            </a:r>
            <a:br>
              <a:rPr lang="en-US" b="1" dirty="0">
                <a:solidFill>
                  <a:srgbClr val="003366"/>
                </a:solidFill>
              </a:rPr>
            </a:br>
            <a:endParaRPr dirty="0"/>
          </a:p>
        </p:txBody>
      </p:sp>
      <p:sp>
        <p:nvSpPr>
          <p:cNvPr id="4" name="Rectangle 1">
            <a:extLst>
              <a:ext uri="{FF2B5EF4-FFF2-40B4-BE49-F238E27FC236}">
                <a16:creationId xmlns:a16="http://schemas.microsoft.com/office/drawing/2014/main" id="{150D0535-244D-2093-3C4E-A258882D31BF}"/>
              </a:ext>
            </a:extLst>
          </p:cNvPr>
          <p:cNvSpPr>
            <a:spLocks noChangeArrowheads="1"/>
          </p:cNvSpPr>
          <p:nvPr/>
        </p:nvSpPr>
        <p:spPr bwMode="auto">
          <a:xfrm>
            <a:off x="457200" y="1343661"/>
            <a:ext cx="478155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Dataset Collection &amp; Preprocessing Module</a:t>
            </a:r>
            <a:r>
              <a:rPr kumimoji="0" lang="en-US" altLang="en-US" sz="1200" b="0" i="0" u="none" strike="noStrike" cap="none" normalizeH="0" baseline="0" dirty="0">
                <a:ln>
                  <a:noFill/>
                </a:ln>
                <a:solidFill>
                  <a:schemeClr val="tx1"/>
                </a:solidFill>
                <a:effectLst/>
              </a:rPr>
              <a:t> Collect public datasets (</a:t>
            </a:r>
            <a:r>
              <a:rPr kumimoji="0" lang="en-US" altLang="en-US" sz="1200" b="0" i="0" u="none" strike="noStrike" cap="none" normalizeH="0" baseline="0" dirty="0" err="1">
                <a:ln>
                  <a:noFill/>
                </a:ln>
                <a:solidFill>
                  <a:schemeClr val="tx1"/>
                </a:solidFill>
                <a:effectLst/>
              </a:rPr>
              <a:t>Malimg</a:t>
            </a:r>
            <a:r>
              <a:rPr kumimoji="0" lang="en-US" altLang="en-US" sz="1200" b="0" i="0" u="none" strike="noStrike" cap="none" normalizeH="0" baseline="0" dirty="0">
                <a:ln>
                  <a:noFill/>
                </a:ln>
                <a:solidFill>
                  <a:schemeClr val="tx1"/>
                </a:solidFill>
                <a:effectLst/>
              </a:rPr>
              <a:t>, IoT-23, EMBER, </a:t>
            </a:r>
            <a:r>
              <a:rPr kumimoji="0" lang="en-US" altLang="en-US" sz="1200" b="0" i="0" u="none" strike="noStrike" cap="none" normalizeH="0" baseline="0" dirty="0" err="1">
                <a:ln>
                  <a:noFill/>
                </a:ln>
                <a:solidFill>
                  <a:schemeClr val="tx1"/>
                </a:solidFill>
                <a:effectLst/>
              </a:rPr>
              <a:t>VirusShare</a:t>
            </a:r>
            <a:r>
              <a:rPr kumimoji="0" lang="en-US" altLang="en-US" sz="1200" b="0" i="0" u="none" strike="noStrike" cap="none" normalizeH="0" baseline="0" dirty="0">
                <a:ln>
                  <a:noFill/>
                </a:ln>
                <a:solidFill>
                  <a:schemeClr val="tx1"/>
                </a:solidFill>
                <a:effectLst/>
              </a:rPr>
              <a:t>); normalize pixels, label samples (benign/malware family); split into train/validation/test sets.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Binary-to-Image Conversion Module</a:t>
            </a:r>
            <a:r>
              <a:rPr kumimoji="0" lang="en-US" altLang="en-US" sz="1200" b="0" i="0" u="none" strike="noStrike" cap="none" normalizeH="0" baseline="0" dirty="0">
                <a:ln>
                  <a:noFill/>
                </a:ln>
                <a:solidFill>
                  <a:schemeClr val="tx1"/>
                </a:solidFill>
                <a:effectLst/>
              </a:rPr>
              <a:t> Convert executable binaries (PE/ELF) to grayscale images: read byte streams, reshape into fixed-size 2D matrices (e.g., 128×128), generate visual fingerprints resilient to obfuscation.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Data Enhancement &amp; Balancing Module</a:t>
            </a:r>
            <a:r>
              <a:rPr kumimoji="0" lang="en-US" altLang="en-US" sz="1200" b="0" i="0" u="none" strike="noStrike" cap="none" normalizeH="0" baseline="0" dirty="0">
                <a:ln>
                  <a:noFill/>
                </a:ln>
                <a:solidFill>
                  <a:schemeClr val="tx1"/>
                </a:solidFill>
                <a:effectLst/>
              </a:rPr>
              <a:t> Apply image augmentation (rotation, scaling, flipping); generate synthetic IIoT-infected samples via Digital Twin; balance class distribution to reduce imbalance and improve generalization.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Digital Twin Module</a:t>
            </a:r>
            <a:r>
              <a:rPr kumimoji="0" lang="en-US" altLang="en-US" sz="1200" b="0" i="0" u="none" strike="noStrike" cap="none" normalizeH="0" baseline="0" dirty="0">
                <a:ln>
                  <a:noFill/>
                </a:ln>
                <a:solidFill>
                  <a:schemeClr val="tx1"/>
                </a:solidFill>
                <a:effectLst/>
              </a:rPr>
              <a:t> Simulate IIoT network using Mininet + Docker; emulate devices (PLCs, sensors), protocols (Modbus, MQTT); generate safe normal and infected traffic logs for runtime behavior capture (used to create synthetic data and validate detections).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Intelligent Malware Detection Module</a:t>
            </a:r>
            <a:r>
              <a:rPr kumimoji="0" lang="en-US" altLang="en-US" sz="1200" b="0" i="0" u="none" strike="noStrike" cap="none" normalizeH="0" baseline="0" dirty="0">
                <a:ln>
                  <a:noFill/>
                </a:ln>
                <a:solidFill>
                  <a:schemeClr val="tx1"/>
                </a:solidFill>
                <a:effectLst/>
              </a:rPr>
              <a:t> Train CNN-based models (</a:t>
            </a:r>
            <a:r>
              <a:rPr kumimoji="0" lang="en-US" altLang="en-US" sz="1200" b="0" i="0" u="none" strike="noStrike" cap="none" normalizeH="0" baseline="0" dirty="0" err="1">
                <a:ln>
                  <a:noFill/>
                </a:ln>
                <a:solidFill>
                  <a:schemeClr val="tx1"/>
                </a:solidFill>
                <a:effectLst/>
              </a:rPr>
              <a:t>PyTorch</a:t>
            </a:r>
            <a:r>
              <a:rPr kumimoji="0" lang="en-US" altLang="en-US" sz="1200" b="0" i="0" u="none" strike="noStrike" cap="none" normalizeH="0" baseline="0" dirty="0">
                <a:ln>
                  <a:noFill/>
                </a:ln>
                <a:solidFill>
                  <a:schemeClr val="tx1"/>
                </a:solidFill>
                <a:effectLst/>
              </a:rPr>
              <a:t>/TensorFlow) on enhanced image dataset; validate during training (tune hyperparameters, early stopping); test on unseen samples; output predictions + confidence scores.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Dashboard &amp; Visualization Module</a:t>
            </a:r>
            <a:r>
              <a:rPr kumimoji="0" lang="en-US" altLang="en-US" sz="1200" b="0" i="0" u="none" strike="noStrike" cap="none" normalizeH="0" baseline="0" dirty="0">
                <a:ln>
                  <a:noFill/>
                </a:ln>
                <a:solidFill>
                  <a:schemeClr val="tx1"/>
                </a:solidFill>
                <a:effectLst/>
              </a:rPr>
              <a:t> (incl. XAI &amp; Reporting) </a:t>
            </a:r>
            <a:r>
              <a:rPr kumimoji="0" lang="en-US" altLang="en-US" sz="1200" b="0" i="0" u="none" strike="noStrike" cap="none" normalizeH="0" baseline="0" dirty="0" err="1">
                <a:ln>
                  <a:noFill/>
                </a:ln>
                <a:solidFill>
                  <a:schemeClr val="tx1"/>
                </a:solidFill>
                <a:effectLst/>
              </a:rPr>
              <a:t>Streamlit</a:t>
            </a:r>
            <a:r>
              <a:rPr kumimoji="0" lang="en-US" altLang="en-US" sz="1200" b="0" i="0" u="none" strike="noStrike" cap="none" normalizeH="0" baseline="0" dirty="0">
                <a:ln>
                  <a:noFill/>
                </a:ln>
                <a:solidFill>
                  <a:schemeClr val="tx1"/>
                </a:solidFill>
                <a:effectLst/>
              </a:rPr>
              <a:t>-based interface: file upload, grayscale preview, real-time predictions, metrics display; apply XAI (</a:t>
            </a:r>
            <a:r>
              <a:rPr kumimoji="0" lang="en-US" altLang="en-US" sz="1200" b="0" i="0" u="none" strike="noStrike" cap="none" normalizeH="0" baseline="0" dirty="0" err="1">
                <a:ln>
                  <a:noFill/>
                </a:ln>
                <a:solidFill>
                  <a:schemeClr val="tx1"/>
                </a:solidFill>
                <a:effectLst/>
              </a:rPr>
              <a:t>Captum</a:t>
            </a:r>
            <a:r>
              <a:rPr kumimoji="0" lang="en-US" altLang="en-US" sz="1200" b="0" i="0" u="none" strike="noStrike" cap="none" normalizeH="0" baseline="0" dirty="0">
                <a:ln>
                  <a:noFill/>
                </a:ln>
                <a:solidFill>
                  <a:schemeClr val="tx1"/>
                </a:solidFill>
                <a:effectLst/>
              </a:rPr>
              <a:t> saliency/Grad-CAM heatmaps) </a:t>
            </a:r>
            <a:r>
              <a:rPr kumimoji="0" lang="en-US" altLang="en-US" sz="1200" b="1" i="0" u="none" strike="noStrike" cap="none" normalizeH="0" baseline="0" dirty="0">
                <a:ln>
                  <a:noFill/>
                </a:ln>
                <a:solidFill>
                  <a:schemeClr val="tx1"/>
                </a:solidFill>
                <a:effectLst/>
              </a:rPr>
              <a:t>after every detection</a:t>
            </a:r>
            <a:r>
              <a:rPr kumimoji="0" lang="en-US" altLang="en-US" sz="1200" b="0" i="0" u="none" strike="noStrike" cap="none" normalizeH="0" baseline="0" dirty="0">
                <a:ln>
                  <a:noFill/>
                </a:ln>
                <a:solidFill>
                  <a:schemeClr val="tx1"/>
                </a:solidFill>
                <a:effectLst/>
              </a:rPr>
              <a:t> to explain results (whether benign or malicious); generate automated reports (PDF/JSON) with threat context. </a:t>
            </a:r>
          </a:p>
        </p:txBody>
      </p:sp>
      <p:pic>
        <p:nvPicPr>
          <p:cNvPr id="5" name="Picture 4">
            <a:extLst>
              <a:ext uri="{FF2B5EF4-FFF2-40B4-BE49-F238E27FC236}">
                <a16:creationId xmlns:a16="http://schemas.microsoft.com/office/drawing/2014/main" id="{9BCE7268-64B2-4C10-9115-E17ADD295F8B}"/>
              </a:ext>
            </a:extLst>
          </p:cNvPr>
          <p:cNvPicPr>
            <a:picLocks noChangeAspect="1"/>
          </p:cNvPicPr>
          <p:nvPr/>
        </p:nvPicPr>
        <p:blipFill rotWithShape="1">
          <a:blip r:embed="rId2"/>
          <a:srcRect l="16368" t="9235" r="12819" b="7153"/>
          <a:stretch/>
        </p:blipFill>
        <p:spPr>
          <a:xfrm>
            <a:off x="5546270" y="312479"/>
            <a:ext cx="3140530" cy="62330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solidFill>
                  <a:srgbClr val="003366"/>
                </a:solidFill>
              </a:rPr>
              <a:t>Tools &amp; Technologies</a:t>
            </a:r>
            <a:br>
              <a:rPr lang="en-US" b="1" dirty="0">
                <a:solidFill>
                  <a:srgbClr val="003366"/>
                </a:solidFill>
              </a:rPr>
            </a:br>
            <a:endParaRPr dirty="0"/>
          </a:p>
        </p:txBody>
      </p:sp>
      <p:sp>
        <p:nvSpPr>
          <p:cNvPr id="3" name="TextBox 2"/>
          <p:cNvSpPr txBox="1"/>
          <p:nvPr/>
        </p:nvSpPr>
        <p:spPr>
          <a:xfrm>
            <a:off x="434567" y="1444025"/>
            <a:ext cx="8252233" cy="4708981"/>
          </a:xfrm>
          <a:prstGeom prst="rect">
            <a:avLst/>
          </a:prstGeom>
          <a:noFill/>
        </p:spPr>
        <p:txBody>
          <a:bodyPr wrap="square">
            <a:spAutoFit/>
          </a:bodyPr>
          <a:lstStyle/>
          <a:p>
            <a:r>
              <a:rPr lang="en-US" sz="2000" b="1" dirty="0"/>
              <a:t>Programming Languages</a:t>
            </a:r>
            <a:endParaRPr lang="en-US" sz="2000" dirty="0"/>
          </a:p>
          <a:p>
            <a:pPr marL="342900" indent="-342900">
              <a:buFont typeface="Arial" panose="020B0604020202020204" pitchFamily="34" charset="0"/>
              <a:buChar char="•"/>
            </a:pPr>
            <a:r>
              <a:rPr lang="en-US" sz="2000" dirty="0"/>
              <a:t>Python</a:t>
            </a:r>
          </a:p>
          <a:p>
            <a:r>
              <a:rPr lang="en-US" sz="2000" b="1" dirty="0"/>
              <a:t>Frameworks &amp; Libraries</a:t>
            </a:r>
            <a:endParaRPr lang="en-US" sz="2000" dirty="0"/>
          </a:p>
          <a:p>
            <a:pPr marL="342900" indent="-342900">
              <a:buFont typeface="Arial" panose="020B0604020202020204" pitchFamily="34" charset="0"/>
              <a:buChar char="•"/>
            </a:pPr>
            <a:r>
              <a:rPr lang="en-US" sz="2000" dirty="0" err="1"/>
              <a:t>PyTorch</a:t>
            </a:r>
            <a:r>
              <a:rPr lang="en-US" sz="2000" dirty="0"/>
              <a:t> / TensorFlow (model training)</a:t>
            </a:r>
          </a:p>
          <a:p>
            <a:pPr marL="342900" indent="-342900">
              <a:buFont typeface="Arial" panose="020B0604020202020204" pitchFamily="34" charset="0"/>
              <a:buChar char="•"/>
            </a:pPr>
            <a:r>
              <a:rPr lang="en-US" sz="2000" dirty="0"/>
              <a:t>OpenCV, Pillow (image processing)</a:t>
            </a:r>
          </a:p>
          <a:p>
            <a:pPr marL="342900" indent="-342900">
              <a:buFont typeface="Arial" panose="020B0604020202020204" pitchFamily="34" charset="0"/>
              <a:buChar char="•"/>
            </a:pPr>
            <a:r>
              <a:rPr lang="en-US" sz="2000" dirty="0"/>
              <a:t>Scikit-learn (evaluation metrics)</a:t>
            </a:r>
          </a:p>
          <a:p>
            <a:pPr marL="342900" indent="-342900">
              <a:buFont typeface="Arial" panose="020B0604020202020204" pitchFamily="34" charset="0"/>
              <a:buChar char="•"/>
            </a:pPr>
            <a:r>
              <a:rPr lang="en-US" sz="2000" dirty="0" err="1"/>
              <a:t>Captum</a:t>
            </a:r>
            <a:r>
              <a:rPr lang="en-US" sz="2000" dirty="0"/>
              <a:t> (Explainable AI)</a:t>
            </a:r>
          </a:p>
          <a:p>
            <a:r>
              <a:rPr lang="en-US" sz="2000" b="1" dirty="0"/>
              <a:t>Platforms &amp; Tools</a:t>
            </a:r>
            <a:endParaRPr lang="en-US" sz="2000" dirty="0"/>
          </a:p>
          <a:p>
            <a:pPr marL="342900" indent="-342900">
              <a:buFont typeface="Arial" panose="020B0604020202020204" pitchFamily="34" charset="0"/>
              <a:buChar char="•"/>
            </a:pPr>
            <a:r>
              <a:rPr lang="en-US" sz="2000" dirty="0"/>
              <a:t>Docker (Digital Twin &amp; simulation)</a:t>
            </a:r>
          </a:p>
          <a:p>
            <a:pPr marL="342900" indent="-342900">
              <a:buFont typeface="Arial" panose="020B0604020202020204" pitchFamily="34" charset="0"/>
              <a:buChar char="•"/>
            </a:pPr>
            <a:r>
              <a:rPr lang="en-US" sz="2000" dirty="0"/>
              <a:t>Mininet (IIoT network emulation)</a:t>
            </a:r>
          </a:p>
          <a:p>
            <a:pPr marL="342900" indent="-342900">
              <a:buFont typeface="Arial" panose="020B0604020202020204" pitchFamily="34" charset="0"/>
              <a:buChar char="•"/>
            </a:pPr>
            <a:r>
              <a:rPr lang="en-US" sz="2000" dirty="0"/>
              <a:t>Streamlit (dashboard &amp; UI)</a:t>
            </a:r>
          </a:p>
          <a:p>
            <a:pPr marL="342900" indent="-342900">
              <a:buFont typeface="Arial" panose="020B0604020202020204" pitchFamily="34" charset="0"/>
              <a:buChar char="•"/>
            </a:pPr>
            <a:r>
              <a:rPr lang="en-US" sz="2000" dirty="0"/>
              <a:t>Linux (secure analysis environment)</a:t>
            </a:r>
          </a:p>
          <a:p>
            <a:r>
              <a:rPr lang="en-US" sz="2000" b="1" dirty="0"/>
              <a:t>Relevance</a:t>
            </a:r>
            <a:endParaRPr lang="en-US" sz="2000" dirty="0"/>
          </a:p>
          <a:p>
            <a:pPr marL="342900" indent="-342900">
              <a:buFont typeface="Arial" panose="020B0604020202020204" pitchFamily="34" charset="0"/>
              <a:buChar char="•"/>
            </a:pPr>
            <a:r>
              <a:rPr lang="en-US" sz="2000" dirty="0"/>
              <a:t>Supports scalability, reproducibility, and safe experimentation</a:t>
            </a:r>
          </a:p>
          <a:p>
            <a:pPr marL="342900" indent="-342900">
              <a:buFont typeface="Arial" panose="020B0604020202020204" pitchFamily="34" charset="0"/>
              <a:buChar char="•"/>
            </a:pPr>
            <a:r>
              <a:rPr lang="en-US" sz="2000" dirty="0"/>
              <a:t>Suitable for AI research and cybersecurity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rgbClr val="003366"/>
                </a:solidFill>
              </a:rPr>
              <a:t>Expected Outcomes &amp; Relevance</a:t>
            </a:r>
            <a:endParaRPr dirty="0"/>
          </a:p>
        </p:txBody>
      </p:sp>
      <p:sp>
        <p:nvSpPr>
          <p:cNvPr id="3" name="TextBox 2"/>
          <p:cNvSpPr txBox="1"/>
          <p:nvPr/>
        </p:nvSpPr>
        <p:spPr>
          <a:xfrm>
            <a:off x="452683" y="1444021"/>
            <a:ext cx="8364149" cy="2862322"/>
          </a:xfrm>
          <a:prstGeom prst="rect">
            <a:avLst/>
          </a:prstGeom>
          <a:noFill/>
        </p:spPr>
        <p:txBody>
          <a:bodyPr wrap="none">
            <a:spAutoFit/>
          </a:bodyPr>
          <a:lstStyle/>
          <a:p>
            <a:r>
              <a:rPr lang="en-US" sz="2000" b="1" dirty="0"/>
              <a:t>Expected Outcomes</a:t>
            </a:r>
            <a:endParaRPr lang="en-US" sz="2000" dirty="0"/>
          </a:p>
          <a:p>
            <a:pPr marL="342900" indent="-342900">
              <a:buFont typeface="Arial" panose="020B0604020202020204" pitchFamily="34" charset="0"/>
              <a:buChar char="•"/>
            </a:pPr>
            <a:r>
              <a:rPr lang="en-US" sz="2000" dirty="0"/>
              <a:t>A functional prototype for IIoT malware variant detection</a:t>
            </a:r>
          </a:p>
          <a:p>
            <a:pPr marL="342900" indent="-342900">
              <a:buFont typeface="Arial" panose="020B0604020202020204" pitchFamily="34" charset="0"/>
              <a:buChar char="•"/>
            </a:pPr>
            <a:r>
              <a:rPr lang="en-US" sz="2000" dirty="0"/>
              <a:t>Accurate detection of obfuscated and unseen malware samples</a:t>
            </a:r>
          </a:p>
          <a:p>
            <a:pPr marL="342900" indent="-342900">
              <a:buFont typeface="Arial" panose="020B0604020202020204" pitchFamily="34" charset="0"/>
              <a:buChar char="•"/>
            </a:pPr>
            <a:r>
              <a:rPr lang="en-US" sz="2000" dirty="0"/>
              <a:t>Interactive dashboard with visualization, </a:t>
            </a:r>
            <a:r>
              <a:rPr lang="en-US" sz="2000" dirty="0" err="1"/>
              <a:t>explainability</a:t>
            </a:r>
            <a:r>
              <a:rPr lang="en-US" sz="2000" dirty="0"/>
              <a:t>, and reporting</a:t>
            </a:r>
          </a:p>
          <a:p>
            <a:pPr marL="342900" indent="-342900">
              <a:buFont typeface="Arial" panose="020B0604020202020204" pitchFamily="34" charset="0"/>
              <a:buChar char="•"/>
            </a:pPr>
            <a:r>
              <a:rPr lang="en-US" sz="2000" dirty="0"/>
              <a:t>Enhanced and balanced malware image dataset</a:t>
            </a:r>
          </a:p>
          <a:p>
            <a:r>
              <a:rPr lang="en-US" sz="2000" b="1" dirty="0"/>
              <a:t>Relevance</a:t>
            </a:r>
            <a:endParaRPr lang="en-US" sz="2000" dirty="0"/>
          </a:p>
          <a:p>
            <a:pPr marL="342900" indent="-342900">
              <a:buFont typeface="Arial" panose="020B0604020202020204" pitchFamily="34" charset="0"/>
              <a:buChar char="•"/>
            </a:pPr>
            <a:r>
              <a:rPr lang="en-US" sz="2000" dirty="0"/>
              <a:t>Improves security of critical industrial infrastructure</a:t>
            </a:r>
          </a:p>
          <a:p>
            <a:pPr marL="342900" indent="-342900">
              <a:buFont typeface="Arial" panose="020B0604020202020204" pitchFamily="34" charset="0"/>
              <a:buChar char="•"/>
            </a:pPr>
            <a:r>
              <a:rPr lang="en-US" sz="2000" dirty="0"/>
              <a:t>Enables safe malware research without physical risk</a:t>
            </a:r>
          </a:p>
          <a:p>
            <a:pPr marL="342900" indent="-342900">
              <a:buFont typeface="Arial" panose="020B0604020202020204" pitchFamily="34" charset="0"/>
              <a:buChar char="•"/>
            </a:pPr>
            <a:r>
              <a:rPr lang="en-US" sz="2000" dirty="0"/>
              <a:t>Useful for academic research, training, and experimentation in IIoT security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solidFill>
                  <a:srgbClr val="003366"/>
                </a:solidFill>
              </a:rPr>
              <a:t>Conclusion / Future Work</a:t>
            </a:r>
            <a:br>
              <a:rPr lang="en-US" b="1" dirty="0">
                <a:solidFill>
                  <a:srgbClr val="003366"/>
                </a:solidFill>
              </a:rPr>
            </a:br>
            <a:endParaRPr dirty="0"/>
          </a:p>
        </p:txBody>
      </p:sp>
      <p:sp>
        <p:nvSpPr>
          <p:cNvPr id="3" name="TextBox 2"/>
          <p:cNvSpPr txBox="1"/>
          <p:nvPr/>
        </p:nvSpPr>
        <p:spPr>
          <a:xfrm>
            <a:off x="443621" y="1444025"/>
            <a:ext cx="8243180" cy="3785652"/>
          </a:xfrm>
          <a:prstGeom prst="rect">
            <a:avLst/>
          </a:prstGeom>
          <a:noFill/>
        </p:spPr>
        <p:txBody>
          <a:bodyPr wrap="square">
            <a:spAutoFit/>
          </a:bodyPr>
          <a:lstStyle/>
          <a:p>
            <a:r>
              <a:rPr lang="en-US" sz="2000" b="1" dirty="0"/>
              <a:t>Conclusion</a:t>
            </a:r>
            <a:endParaRPr lang="en-US" sz="2000" dirty="0"/>
          </a:p>
          <a:p>
            <a:pPr marL="342900" indent="-342900">
              <a:buFont typeface="Arial" panose="020B0604020202020204" pitchFamily="34" charset="0"/>
              <a:buChar char="•"/>
            </a:pPr>
            <a:r>
              <a:rPr lang="en-US" sz="2000" dirty="0"/>
              <a:t>MalTwin provides a safe, intelligent, and adaptive framework for IIoT malware variant detection</a:t>
            </a:r>
          </a:p>
          <a:p>
            <a:pPr marL="342900" indent="-342900">
              <a:buFont typeface="Arial" panose="020B0604020202020204" pitchFamily="34" charset="0"/>
              <a:buChar char="•"/>
            </a:pPr>
            <a:r>
              <a:rPr lang="en-US" sz="2000" dirty="0"/>
              <a:t>Moves beyond signature-based methods toward visual and learning-based analysis</a:t>
            </a:r>
          </a:p>
          <a:p>
            <a:pPr marL="342900" indent="-342900">
              <a:buFont typeface="Arial" panose="020B0604020202020204" pitchFamily="34" charset="0"/>
              <a:buChar char="•"/>
            </a:pPr>
            <a:r>
              <a:rPr lang="en-US" sz="2000" dirty="0"/>
              <a:t>Combines Digital Twins, AI, and cybersecurity into a unified research platform</a:t>
            </a:r>
          </a:p>
          <a:p>
            <a:r>
              <a:rPr lang="en-US" sz="2000" b="1" dirty="0"/>
              <a:t>Future Work</a:t>
            </a:r>
            <a:endParaRPr lang="en-US" sz="2000" dirty="0"/>
          </a:p>
          <a:p>
            <a:pPr marL="342900" indent="-342900">
              <a:buFont typeface="Arial" panose="020B0604020202020204" pitchFamily="34" charset="0"/>
              <a:buChar char="•"/>
            </a:pPr>
            <a:r>
              <a:rPr lang="en-US" sz="2000" dirty="0"/>
              <a:t>Integrate dynamic behavioral analysis alongside static visual analysis</a:t>
            </a:r>
          </a:p>
          <a:p>
            <a:pPr marL="342900" indent="-342900">
              <a:buFont typeface="Arial" panose="020B0604020202020204" pitchFamily="34" charset="0"/>
              <a:buChar char="•"/>
            </a:pPr>
            <a:r>
              <a:rPr lang="en-US" sz="2000" dirty="0"/>
              <a:t>Extend to real-time IIoT traffic monitoring</a:t>
            </a:r>
          </a:p>
          <a:p>
            <a:pPr marL="342900" indent="-342900">
              <a:buFont typeface="Arial" panose="020B0604020202020204" pitchFamily="34" charset="0"/>
              <a:buChar char="•"/>
            </a:pPr>
            <a:r>
              <a:rPr lang="en-US" sz="2000" dirty="0"/>
              <a:t>Support additional malware families and protocols</a:t>
            </a:r>
          </a:p>
          <a:p>
            <a:pPr marL="342900" indent="-342900">
              <a:buFont typeface="Arial" panose="020B0604020202020204" pitchFamily="34" charset="0"/>
              <a:buChar char="•"/>
            </a:pPr>
            <a:r>
              <a:rPr lang="en-US" sz="2000" dirty="0"/>
              <a:t>Deploy as a cloud-based research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127</TotalTime>
  <Words>1890</Words>
  <Application>Microsoft Office PowerPoint</Application>
  <PresentationFormat>On-screen Show (4:3)</PresentationFormat>
  <Paragraphs>111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Project Title &amp; Aim </vt:lpstr>
      <vt:lpstr>Problem Statement</vt:lpstr>
      <vt:lpstr>Existing Solutions </vt:lpstr>
      <vt:lpstr>Objectives </vt:lpstr>
      <vt:lpstr>Complexity of Problem </vt:lpstr>
      <vt:lpstr>Complexity of Problem ss The Challenge of Visual Malware Forensics</vt:lpstr>
      <vt:lpstr>Justification</vt:lpstr>
      <vt:lpstr>Justification</vt:lpstr>
      <vt:lpstr>Addressing Limitations of Visual-Only Detection</vt:lpstr>
      <vt:lpstr>Datasets &amp; Limitations</vt:lpstr>
      <vt:lpstr>Methodology </vt:lpstr>
      <vt:lpstr>Tools &amp; Technologies </vt:lpstr>
      <vt:lpstr>Expected Outcomes &amp; Relevance</vt:lpstr>
      <vt:lpstr>Conclusion / Future Work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&amp; Aim </dc:title>
  <dc:subject/>
  <dc:creator>Atique Ahmad Zafar</dc:creator>
  <cp:keywords/>
  <dc:description>generated using python-pptx</dc:description>
  <cp:lastModifiedBy>(SP23-BCT-021) IMAN FATIMA</cp:lastModifiedBy>
  <cp:revision>8</cp:revision>
  <dcterms:created xsi:type="dcterms:W3CDTF">2013-01-27T09:14:16Z</dcterms:created>
  <dcterms:modified xsi:type="dcterms:W3CDTF">2026-01-15T17:06:35Z</dcterms:modified>
  <cp:category/>
</cp:coreProperties>
</file>